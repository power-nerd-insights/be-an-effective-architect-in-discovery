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2652F3-6E9D-4485-9A76-39F4D049A864}" v="16" dt="2026-08-28T13:04:14.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1970" autoAdjust="0"/>
  </p:normalViewPr>
  <p:slideViewPr>
    <p:cSldViewPr snapToGrid="0" snapToObjects="1">
      <p:cViewPr varScale="1">
        <p:scale>
          <a:sx n="72" d="100"/>
          <a:sy n="72" d="100"/>
        </p:scale>
        <p:origin x="36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 Johnson" userId="5014fdfb00b1eb1b" providerId="LiveId" clId="{516E4DD8-F432-4F24-9977-3EBD8CA14566}"/>
    <pc:docChg chg="undo custSel modSld">
      <pc:chgData name="Will Johnson" userId="5014fdfb00b1eb1b" providerId="LiveId" clId="{516E4DD8-F432-4F24-9977-3EBD8CA14566}" dt="2026-08-28T13:04:14.744" v="4764" actId="20577"/>
      <pc:docMkLst>
        <pc:docMk/>
      </pc:docMkLst>
      <pc:sldChg chg="modSp mod">
        <pc:chgData name="Will Johnson" userId="5014fdfb00b1eb1b" providerId="LiveId" clId="{516E4DD8-F432-4F24-9977-3EBD8CA14566}" dt="2026-08-28T10:59:34.662" v="7" actId="20577"/>
        <pc:sldMkLst>
          <pc:docMk/>
          <pc:sldMk cId="0" sldId="256"/>
        </pc:sldMkLst>
        <pc:spChg chg="mod">
          <ac:chgData name="Will Johnson" userId="5014fdfb00b1eb1b" providerId="LiveId" clId="{516E4DD8-F432-4F24-9977-3EBD8CA14566}" dt="2026-08-28T10:59:34.662" v="7" actId="20577"/>
          <ac:spMkLst>
            <pc:docMk/>
            <pc:sldMk cId="0" sldId="256"/>
            <ac:spMk id="6" creationId="{00000000-0000-0000-0000-000000000000}"/>
          </ac:spMkLst>
        </pc:spChg>
      </pc:sldChg>
      <pc:sldChg chg="modNotesTx">
        <pc:chgData name="Will Johnson" userId="5014fdfb00b1eb1b" providerId="LiveId" clId="{516E4DD8-F432-4F24-9977-3EBD8CA14566}" dt="2026-08-28T11:18:37.430" v="782" actId="20577"/>
        <pc:sldMkLst>
          <pc:docMk/>
          <pc:sldMk cId="0" sldId="258"/>
        </pc:sldMkLst>
      </pc:sldChg>
      <pc:sldChg chg="modSp mod modNotesTx">
        <pc:chgData name="Will Johnson" userId="5014fdfb00b1eb1b" providerId="LiveId" clId="{516E4DD8-F432-4F24-9977-3EBD8CA14566}" dt="2026-08-28T11:20:57.345" v="1153" actId="20577"/>
        <pc:sldMkLst>
          <pc:docMk/>
          <pc:sldMk cId="0" sldId="259"/>
        </pc:sldMkLst>
        <pc:spChg chg="mod">
          <ac:chgData name="Will Johnson" userId="5014fdfb00b1eb1b" providerId="LiveId" clId="{516E4DD8-F432-4F24-9977-3EBD8CA14566}" dt="2026-08-28T11:02:07.331" v="8" actId="20577"/>
          <ac:spMkLst>
            <pc:docMk/>
            <pc:sldMk cId="0" sldId="259"/>
            <ac:spMk id="3" creationId="{00000000-0000-0000-0000-000000000000}"/>
          </ac:spMkLst>
        </pc:spChg>
      </pc:sldChg>
      <pc:sldChg chg="modNotesTx">
        <pc:chgData name="Will Johnson" userId="5014fdfb00b1eb1b" providerId="LiveId" clId="{516E4DD8-F432-4F24-9977-3EBD8CA14566}" dt="2026-08-28T12:01:33.777" v="1502" actId="20577"/>
        <pc:sldMkLst>
          <pc:docMk/>
          <pc:sldMk cId="0" sldId="260"/>
        </pc:sldMkLst>
      </pc:sldChg>
      <pc:sldChg chg="modNotesTx">
        <pc:chgData name="Will Johnson" userId="5014fdfb00b1eb1b" providerId="LiveId" clId="{516E4DD8-F432-4F24-9977-3EBD8CA14566}" dt="2026-08-28T11:23:19.629" v="1172"/>
        <pc:sldMkLst>
          <pc:docMk/>
          <pc:sldMk cId="0" sldId="261"/>
        </pc:sldMkLst>
      </pc:sldChg>
      <pc:sldChg chg="modNotesTx">
        <pc:chgData name="Will Johnson" userId="5014fdfb00b1eb1b" providerId="LiveId" clId="{516E4DD8-F432-4F24-9977-3EBD8CA14566}" dt="2026-08-28T11:23:55.362" v="1173"/>
        <pc:sldMkLst>
          <pc:docMk/>
          <pc:sldMk cId="0" sldId="262"/>
        </pc:sldMkLst>
      </pc:sldChg>
      <pc:sldChg chg="modNotesTx">
        <pc:chgData name="Will Johnson" userId="5014fdfb00b1eb1b" providerId="LiveId" clId="{516E4DD8-F432-4F24-9977-3EBD8CA14566}" dt="2026-08-28T12:03:01.090" v="1838" actId="368"/>
        <pc:sldMkLst>
          <pc:docMk/>
          <pc:sldMk cId="0" sldId="263"/>
        </pc:sldMkLst>
      </pc:sldChg>
      <pc:sldChg chg="modNotesTx">
        <pc:chgData name="Will Johnson" userId="5014fdfb00b1eb1b" providerId="LiveId" clId="{516E4DD8-F432-4F24-9977-3EBD8CA14566}" dt="2026-08-28T12:03:17.810" v="1839"/>
        <pc:sldMkLst>
          <pc:docMk/>
          <pc:sldMk cId="0" sldId="264"/>
        </pc:sldMkLst>
      </pc:sldChg>
      <pc:sldChg chg="modNotesTx">
        <pc:chgData name="Will Johnson" userId="5014fdfb00b1eb1b" providerId="LiveId" clId="{516E4DD8-F432-4F24-9977-3EBD8CA14566}" dt="2026-08-28T12:33:33.554" v="2250" actId="20577"/>
        <pc:sldMkLst>
          <pc:docMk/>
          <pc:sldMk cId="0" sldId="265"/>
        </pc:sldMkLst>
      </pc:sldChg>
      <pc:sldChg chg="modNotesTx">
        <pc:chgData name="Will Johnson" userId="5014fdfb00b1eb1b" providerId="LiveId" clId="{516E4DD8-F432-4F24-9977-3EBD8CA14566}" dt="2026-08-28T12:37:19.446" v="2495" actId="20577"/>
        <pc:sldMkLst>
          <pc:docMk/>
          <pc:sldMk cId="0" sldId="266"/>
        </pc:sldMkLst>
      </pc:sldChg>
      <pc:sldChg chg="modNotesTx">
        <pc:chgData name="Will Johnson" userId="5014fdfb00b1eb1b" providerId="LiveId" clId="{516E4DD8-F432-4F24-9977-3EBD8CA14566}" dt="2026-08-28T12:44:11.746" v="2497"/>
        <pc:sldMkLst>
          <pc:docMk/>
          <pc:sldMk cId="0" sldId="268"/>
        </pc:sldMkLst>
      </pc:sldChg>
      <pc:sldChg chg="modSp mod modNotesTx">
        <pc:chgData name="Will Johnson" userId="5014fdfb00b1eb1b" providerId="LiveId" clId="{516E4DD8-F432-4F24-9977-3EBD8CA14566}" dt="2026-08-28T12:46:40.112" v="2510" actId="20577"/>
        <pc:sldMkLst>
          <pc:docMk/>
          <pc:sldMk cId="0" sldId="270"/>
        </pc:sldMkLst>
        <pc:spChg chg="mod">
          <ac:chgData name="Will Johnson" userId="5014fdfb00b1eb1b" providerId="LiveId" clId="{516E4DD8-F432-4F24-9977-3EBD8CA14566}" dt="2026-08-28T10:59:20.201" v="6" actId="20577"/>
          <ac:spMkLst>
            <pc:docMk/>
            <pc:sldMk cId="0" sldId="270"/>
            <ac:spMk id="9" creationId="{00000000-0000-0000-0000-000000000000}"/>
          </ac:spMkLst>
        </pc:spChg>
      </pc:sldChg>
      <pc:sldChg chg="modNotesTx">
        <pc:chgData name="Will Johnson" userId="5014fdfb00b1eb1b" providerId="LiveId" clId="{516E4DD8-F432-4F24-9977-3EBD8CA14566}" dt="2026-08-28T13:02:48.702" v="4688" actId="20577"/>
        <pc:sldMkLst>
          <pc:docMk/>
          <pc:sldMk cId="0" sldId="271"/>
        </pc:sldMkLst>
      </pc:sldChg>
      <pc:sldChg chg="modNotesTx">
        <pc:chgData name="Will Johnson" userId="5014fdfb00b1eb1b" providerId="LiveId" clId="{516E4DD8-F432-4F24-9977-3EBD8CA14566}" dt="2026-08-28T13:03:35.288" v="4763" actId="20577"/>
        <pc:sldMkLst>
          <pc:docMk/>
          <pc:sldMk cId="0" sldId="272"/>
        </pc:sldMkLst>
      </pc:sldChg>
      <pc:sldChg chg="modNotesTx">
        <pc:chgData name="Will Johnson" userId="5014fdfb00b1eb1b" providerId="LiveId" clId="{516E4DD8-F432-4F24-9977-3EBD8CA14566}" dt="2026-08-28T13:04:14.744" v="4764" actId="20577"/>
        <pc:sldMkLst>
          <pc:docMk/>
          <pc:sldMk cId="0"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932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been gathering requirements as a power platform dev for a while you will have run across these 2 scenarios but there are many more examples of these kind of hiccups in discovery sessions. What both of these have in common is that they leave something to be discovered for later. Essentially laying landmines for discovery later that blow up your planned delivery or solution design.  These landmines can be expensive, finding a missed requirement in week 1 of a project might mean you just need an extra conversation or follow up, finding it in week 10 probably means a rebuild or a redesign to fit something in. There are 4 specific modes that lead to these landmines being placed.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Today's four topics map to four specific failure modes: asking the wrong questions, missing a stakeholder, designing to a stated solution instead of a real problem, and failing to help the business choose between things it wants. Hopefully by the end you’ll have a question bank, a stakeholder checklist, reusable phrasing and a way to actually run a prioritisation conversation.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happens when you don’t ask the right questions, well when </a:t>
            </a:r>
            <a:r>
              <a:rPr lang="en-GB" sz="1200" kern="1200" dirty="0">
                <a:solidFill>
                  <a:schemeClr val="tx1"/>
                </a:solidFill>
                <a:effectLst/>
                <a:latin typeface="+mn-lt"/>
                <a:ea typeface="+mn-ea"/>
                <a:cs typeface="+mn-cs"/>
              </a:rPr>
              <a:t>Architects collect answers to questions that either assume a solution or are too abstract to act on. Questions like “Would a Power App help here?” anchors the person before they've described the problem. “What are your requirements?” gets a blank look, because nobody has a pre-packaged answer to that. Think of asking the right questions like an act of adventure or a new discovery, you want to ask the why for a lot of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Current state (behavioural, not opinion): “Walk me through what you did the last time this happened, step by step.” “What do you open first? What do you copy, and from where?”</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Pain, quantified: “How often does this happen? How long does it take? How many people touch it end to end?”</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Exceptions and edge cases: “What's the messiest version of this you've dealt with?” “Tell me about a time this process broke.” This is where hidden requirements live - asking only about the normal case gets you only the happy path.</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Success criteria, as outcomes not features: “If this worked perfectly, what would be different on a Tuesday afternoon six months from now?”</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Constraints: “What can't change?” “Who has to sign off, and what are they actually checking for?”</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Negative space: “What happens if we do nothing?” This separates real urgency from assumed urgency and gives you a baseline to design against.</a:t>
            </a:r>
          </a:p>
          <a:p>
            <a:pPr marL="342900" lvl="0" indent="-342900">
              <a:spcAft>
                <a:spcPts val="500"/>
              </a:spcAft>
              <a:buFont typeface="Arial" panose="020B0604020202020204" pitchFamily="34" charset="0"/>
              <a:buChar char="•"/>
            </a:pPr>
            <a:endParaRPr lang="en-GB" sz="1200" dirty="0">
              <a:effectLst/>
              <a:latin typeface="Times New Roman" panose="02020603050405020304" pitchFamily="18" charset="0"/>
              <a:ea typeface="Times New Roman" panose="02020603050405020304" pitchFamily="18" charset="0"/>
            </a:endParaRPr>
          </a:p>
          <a:p>
            <a:pPr>
              <a:spcBef>
                <a:spcPts val="1200"/>
              </a:spcBef>
              <a:spcAft>
                <a:spcPts val="500"/>
              </a:spcAft>
              <a:buNone/>
            </a:pPr>
            <a:r>
              <a:rPr lang="en-GB" sz="1100" b="1" dirty="0">
                <a:solidFill>
                  <a:srgbClr val="1E2761"/>
                </a:solidFill>
                <a:effectLst/>
                <a:latin typeface="Times New Roman" panose="02020603050405020304" pitchFamily="18" charset="0"/>
              </a:rPr>
              <a:t>The one technique that matters most</a:t>
            </a:r>
            <a:endParaRPr lang="en-GB" sz="1100" b="1" dirty="0">
              <a:solidFill>
                <a:srgbClr val="1F4D78"/>
              </a:solidFill>
              <a:effectLst/>
              <a:latin typeface="Times New Roman" panose="02020603050405020304" pitchFamily="18" charset="0"/>
            </a:endParaRPr>
          </a:p>
          <a:p>
            <a:pPr>
              <a:spcAft>
                <a:spcPts val="800"/>
              </a:spcAft>
              <a:buNone/>
            </a:pPr>
            <a:r>
              <a:rPr lang="en-GB" sz="1050" dirty="0">
                <a:effectLst/>
                <a:latin typeface="Times New Roman" panose="02020603050405020304" pitchFamily="18" charset="0"/>
                <a:ea typeface="Times New Roman" panose="02020603050405020304" pitchFamily="18" charset="0"/>
              </a:rPr>
              <a:t>A single follow-up - “why?” or “what happens then?” - after any answer does more work than a longer list of prepared questions. Depth beats breadth. If you only take one thing from this section, take that one.</a:t>
            </a:r>
            <a:endParaRPr lang="en-GB" sz="900" dirty="0">
              <a:effectLst/>
              <a:latin typeface="Times New Roman" panose="02020603050405020304" pitchFamily="18" charset="0"/>
              <a:ea typeface="Times New Roman" panose="02020603050405020304" pitchFamily="18" charset="0"/>
            </a:endParaRPr>
          </a:p>
          <a:p>
            <a:pPr marL="0" lvl="0" indent="0">
              <a:spcAft>
                <a:spcPts val="500"/>
              </a:spcAft>
              <a:buFont typeface="Arial" panose="020B0604020202020204" pitchFamily="34" charset="0"/>
              <a:buNone/>
            </a:pPr>
            <a:endParaRPr lang="en-GB" sz="105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spcAft>
                <a:spcPts val="500"/>
              </a:spcAft>
              <a:buNone/>
            </a:pPr>
            <a:r>
              <a:rPr lang="en-GB" sz="1400" b="1" dirty="0">
                <a:solidFill>
                  <a:srgbClr val="1E2761"/>
                </a:solidFill>
                <a:effectLst/>
                <a:latin typeface="Times New Roman" panose="02020603050405020304" pitchFamily="18" charset="0"/>
              </a:rPr>
              <a:t>Two passes, not one: standard process, then exceptions</a:t>
            </a:r>
            <a:endParaRPr lang="en-GB" sz="1400" b="1" dirty="0">
              <a:solidFill>
                <a:srgbClr val="1F4D78"/>
              </a:solidFill>
              <a:effectLst/>
              <a:latin typeface="Times New Roman" panose="02020603050405020304" pitchFamily="18" charset="0"/>
            </a:endParaRPr>
          </a:p>
          <a:p>
            <a:pPr>
              <a:spcAft>
                <a:spcPts val="800"/>
              </a:spcAft>
              <a:buNone/>
            </a:pPr>
            <a:r>
              <a:rPr lang="en-GB" sz="1200" dirty="0">
                <a:effectLst/>
                <a:latin typeface="Times New Roman" panose="02020603050405020304" pitchFamily="18" charset="0"/>
                <a:ea typeface="Times New Roman" panose="02020603050405020304" pitchFamily="18" charset="0"/>
              </a:rPr>
              <a:t>If you ask for exceptions too early, you get an unstructured dump before anyone has agreed what “normal” even is. If you never ask for them at all, you get the two-hundred-exceptions surprise. The fix is to run it as two deliberate passes: capture the standard, 80%-of-the-time path first - “let's just focus on the standard process, we'll work up to the exceptions” - and then come back with a dedicated pass whose only job is exceptions: “what breaks this? what's the version that doesn't fit what you just told me?”</a:t>
            </a:r>
            <a:endParaRPr lang="en-GB" sz="1050" dirty="0">
              <a:effectLst/>
              <a:latin typeface="Times New Roman" panose="02020603050405020304" pitchFamily="18" charset="0"/>
              <a:ea typeface="Times New Roman" panose="02020603050405020304" pitchFamily="18" charset="0"/>
            </a:endParaRPr>
          </a:p>
          <a:p>
            <a:pPr>
              <a:spcAft>
                <a:spcPts val="800"/>
              </a:spcAft>
              <a:buNone/>
            </a:pPr>
            <a:r>
              <a:rPr lang="en-GB" sz="1200" dirty="0">
                <a:effectLst/>
                <a:latin typeface="Times New Roman" panose="02020603050405020304" pitchFamily="18" charset="0"/>
                <a:ea typeface="Times New Roman" panose="02020603050405020304" pitchFamily="18" charset="0"/>
              </a:rPr>
              <a:t>Tell it as a running joke if it lands: “Tina amends this, but only on the third Tuesday of the month, if Venus is in retrograde and her cat isn't ill - except on leap years, when it's Tom.” Every discovery session has a Tina. Your job is to find her on purpose, in the second pass, rather than by accident in UAT.</a:t>
            </a:r>
            <a:endParaRPr lang="en-GB" sz="105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what happens if you don’t get the right people in the room. Most likely if you only include the people who asked/called the meeting, usually the project sponsor and the most vocal end user. You end up missing key personals that pop up later to add in exceptions and outline their part of the process. </a:t>
            </a:r>
            <a:r>
              <a:rPr lang="en-GB" sz="1200" kern="1200" dirty="0">
                <a:solidFill>
                  <a:schemeClr val="tx1"/>
                </a:solidFill>
                <a:effectLst/>
                <a:latin typeface="+mn-lt"/>
                <a:ea typeface="+mn-ea"/>
                <a:cs typeface="+mn-cs"/>
              </a:rPr>
              <a:t>. Every persona you miss surfaces later as rework, and later rework is always more expensive than an extra 30-minute conversation now.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spcAft>
                <a:spcPts val="500"/>
              </a:spcAft>
              <a:buNone/>
            </a:pPr>
            <a:r>
              <a:rPr lang="en-GB" sz="1400" b="1" dirty="0">
                <a:solidFill>
                  <a:srgbClr val="1E2761"/>
                </a:solidFill>
                <a:effectLst/>
                <a:latin typeface="Times New Roman" panose="02020603050405020304" pitchFamily="18" charset="0"/>
              </a:rPr>
              <a:t>Core personas, and what each one protects against</a:t>
            </a:r>
            <a:endParaRPr lang="en-GB" sz="1400" b="1" dirty="0">
              <a:solidFill>
                <a:srgbClr val="1F4D78"/>
              </a:solidFill>
              <a:effectLst/>
              <a:latin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Business sponsor / process owner - owns outcomes and budget. Miss them and no one can arbitrate scope trade-offs later; sign-off stalls at the end instead.</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Day-to-day end user - does the work today. Miss them and the design reflects how management thinks the process works, not how it actually works.</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The exception handler - often not the primary user, but the person informally fixing edge cases. Miss them and the edge cases surface for the first time in UAT.</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IT / security / compliance gatekeeper - owns the non-functional constraints: data residency, authentication, retention. Miss them and you get rework after a late architecture review, or a blocked go-live.</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Downstream consumer - someone who uses the output of this process next. Miss them and you optimise the middle of a process while breaking what comes after it.</a:t>
            </a:r>
            <a:endParaRPr lang="en-GB" sz="1050" dirty="0">
              <a:effectLst/>
              <a:latin typeface="Times New Roman" panose="02020603050405020304" pitchFamily="18" charset="0"/>
              <a:ea typeface="Times New Roman" panose="02020603050405020304" pitchFamily="18" charset="0"/>
            </a:endParaRPr>
          </a:p>
          <a:p>
            <a:pPr marL="342900" lvl="0" indent="-342900">
              <a:spcAft>
                <a:spcPts val="500"/>
              </a:spcAft>
              <a:buFont typeface="Arial" panose="020B0604020202020204" pitchFamily="34" charset="0"/>
              <a:buChar char="•"/>
            </a:pPr>
            <a:r>
              <a:rPr lang="en-GB" sz="1200" dirty="0">
                <a:effectLst/>
                <a:latin typeface="Times New Roman" panose="02020603050405020304" pitchFamily="18" charset="0"/>
                <a:ea typeface="Times New Roman" panose="02020603050405020304" pitchFamily="18" charset="0"/>
              </a:rPr>
              <a:t>Budget / commercial approver, if different from the sponsor - miss them and scope agreed in discovery gets unwound in a commercial conversation later.</a:t>
            </a:r>
            <a:endParaRPr lang="en-GB" sz="105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How to find who's missing, without an org chart</a:t>
            </a:r>
          </a:p>
          <a:p>
            <a:pPr lvl="0"/>
            <a:r>
              <a:rPr lang="en-GB" sz="1200" kern="1200" dirty="0">
                <a:solidFill>
                  <a:schemeClr val="tx1"/>
                </a:solidFill>
                <a:effectLst/>
                <a:latin typeface="+mn-lt"/>
                <a:ea typeface="+mn-ea"/>
                <a:cs typeface="+mn-cs"/>
              </a:rPr>
              <a:t>Ask the sponsor: “Who would be upset if we changed this without talking to them?”</a:t>
            </a:r>
          </a:p>
          <a:p>
            <a:pPr lvl="0"/>
            <a:r>
              <a:rPr lang="en-GB" sz="1200" kern="1200" dirty="0">
                <a:solidFill>
                  <a:schemeClr val="tx1"/>
                </a:solidFill>
                <a:effectLst/>
                <a:latin typeface="+mn-lt"/>
                <a:ea typeface="+mn-ea"/>
                <a:cs typeface="+mn-cs"/>
              </a:rPr>
              <a:t>Ask the end user: “Who do you go to when this breaks?” - usually surfaces the exception handler.</a:t>
            </a:r>
          </a:p>
          <a:p>
            <a:pPr lvl="0"/>
            <a:r>
              <a:rPr lang="en-GB" sz="1200" kern="1200" dirty="0">
                <a:solidFill>
                  <a:schemeClr val="tx1"/>
                </a:solidFill>
                <a:effectLst/>
                <a:latin typeface="+mn-lt"/>
                <a:ea typeface="+mn-ea"/>
                <a:cs typeface="+mn-cs"/>
              </a:rPr>
              <a:t>Ask: “Who receives the output of this, and what do they do with it next?” - surfaces the downstream consumer.</a:t>
            </a:r>
          </a:p>
          <a:p>
            <a:r>
              <a:rPr lang="en-GB" sz="1200" kern="1200" dirty="0">
                <a:solidFill>
                  <a:schemeClr val="tx1"/>
                </a:solidFill>
                <a:effectLst/>
                <a:latin typeface="+mn-lt"/>
                <a:ea typeface="+mn-ea"/>
                <a:cs typeface="+mn-cs"/>
              </a:rPr>
              <a:t>A lightweight RACI for the process being discovered (not the project itself) takes about ten minutes to sketch and exposes gaps before the first workshop, not after it.</a:t>
            </a:r>
          </a:p>
          <a:p>
            <a:endParaRPr lang="en-US" dirty="0"/>
          </a:p>
          <a:p>
            <a:r>
              <a:rPr lang="en-US" dirty="0"/>
              <a:t>RACI – tracking who is responsible, accountable, consulted and informed</a:t>
            </a:r>
          </a:p>
          <a:p>
            <a:r>
              <a:rPr lang="en-US" dirty="0"/>
              <a:t>R – responsible – the person who actually does the work</a:t>
            </a:r>
          </a:p>
          <a:p>
            <a:r>
              <a:rPr lang="en-US" dirty="0"/>
              <a:t>A – accountable – the person who owns the outcome and signs it off</a:t>
            </a:r>
          </a:p>
          <a:p>
            <a:r>
              <a:rPr lang="en-US" dirty="0"/>
              <a:t>C – consulted – people whose input is sought before a decision/action</a:t>
            </a:r>
          </a:p>
          <a:p>
            <a:r>
              <a:rPr lang="en-US" dirty="0"/>
              <a:t>I – Informed – people who are told the outcome/provided the output after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Stakeholders arrive with a solution already in mind - “we need an app for this.” Architects either accept it uncritically or start designing against it before the underlying problem is understood. Either way, the real problem never gets validated. A stated solution is a proxy for a need the person hasn't articulated yet. Design to the proxy and you can build the wrong thing perfectly. The phrase “We need an app” is them saying what they consider the solution, the aim of proper discovery is to detail the problem, not identify the solution, that is for the design phase.</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Asking non-technical people to describe a process in non-technical terms should be easy. It isn't - it's like pulling teeth. The default answer to “what's the first step?” is almost always a system step: “well, we fill out this Google Form.” That's not the process. That's the tool. The actual first step is whatever information that form exists to capture, and why.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Say it out loud at the start of the session, before you ask a single question: “Forget your existing process and the tools you currently use. Let's think about what this would look like in an ideal scenario. We have some banned words today: Microsoft, Google, App, Button, Form.” It sounds heavy-handed. Say it anyway - it gives people explicit permission to stop narrating their screen and start narrating their actual job.</a:t>
            </a:r>
          </a:p>
          <a:p>
            <a:r>
              <a:rPr lang="en-GB" sz="1200" kern="1200" dirty="0">
                <a:solidFill>
                  <a:schemeClr val="tx1"/>
                </a:solidFill>
                <a:effectLst/>
                <a:latin typeface="+mn-lt"/>
                <a:ea typeface="+mn-ea"/>
                <a:cs typeface="+mn-cs"/>
              </a:rPr>
              <a:t>Warm the room up first with a genuinely unconstrained example - the old “what if we just put seats on the wings of the plane” story works well here, as an icebreaker that shows what pure ideal-scenario thinking sounds like before you point that same freedom at their process.</a:t>
            </a:r>
          </a:p>
          <a:p>
            <a:r>
              <a:rPr lang="en-GB" sz="1200" kern="1200" dirty="0">
                <a:solidFill>
                  <a:schemeClr val="tx1"/>
                </a:solidFill>
                <a:effectLst/>
                <a:latin typeface="+mn-lt"/>
                <a:ea typeface="+mn-ea"/>
                <a:cs typeface="+mn-cs"/>
              </a:rPr>
              <a:t>A blunter version of the same idea, if banned words feels too gimmicky for the room: say it plainly up front - “I need this process explained with no reference to a system. No buttons, no fields, no pages. Just what happens and why.” Same effect, different delivery.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Redirecting a solution-shaped answer, live</a:t>
            </a:r>
          </a:p>
          <a:p>
            <a:r>
              <a:rPr lang="en-GB" sz="1200" kern="1200" dirty="0">
                <a:solidFill>
                  <a:schemeClr val="tx1"/>
                </a:solidFill>
                <a:effectLst/>
                <a:latin typeface="+mn-lt"/>
                <a:ea typeface="+mn-ea"/>
                <a:cs typeface="+mn-cs"/>
              </a:rPr>
              <a:t>This is the exchange to have ready, near verbatim:</a:t>
            </a:r>
          </a:p>
          <a:p>
            <a:pPr lvl="0"/>
            <a:r>
              <a:rPr lang="en-GB" sz="1200" kern="1200" dirty="0">
                <a:solidFill>
                  <a:schemeClr val="tx1"/>
                </a:solidFill>
                <a:effectLst/>
                <a:latin typeface="+mn-lt"/>
                <a:ea typeface="+mn-ea"/>
                <a:cs typeface="+mn-cs"/>
              </a:rPr>
              <a:t>You: “Remember, the point of this exercise is to figure out what you were actually automating in the first place. So - what's the first step you take?”</a:t>
            </a:r>
          </a:p>
          <a:p>
            <a:pPr lvl="0"/>
            <a:r>
              <a:rPr lang="en-GB" sz="1200" kern="1200" dirty="0">
                <a:solidFill>
                  <a:schemeClr val="tx1"/>
                </a:solidFill>
                <a:effectLst/>
                <a:latin typeface="+mn-lt"/>
                <a:ea typeface="+mn-ea"/>
                <a:cs typeface="+mn-cs"/>
              </a:rPr>
              <a:t>Them: “Well, we fill out this Google Form.”</a:t>
            </a:r>
          </a:p>
          <a:p>
            <a:pPr lvl="0"/>
            <a:r>
              <a:rPr lang="en-GB" sz="1200" kern="1200" dirty="0">
                <a:solidFill>
                  <a:schemeClr val="tx1"/>
                </a:solidFill>
                <a:effectLst/>
                <a:latin typeface="+mn-lt"/>
                <a:ea typeface="+mn-ea"/>
                <a:cs typeface="+mn-cs"/>
              </a:rPr>
              <a:t>You: “Before the form - what are you capturing there, and why does it matter to the next person in the chain?”</a:t>
            </a:r>
          </a:p>
          <a:p>
            <a:r>
              <a:rPr lang="en-GB" sz="1200" kern="1200" dirty="0">
                <a:solidFill>
                  <a:schemeClr val="tx1"/>
                </a:solidFill>
                <a:effectLst/>
                <a:latin typeface="+mn-lt"/>
                <a:ea typeface="+mn-ea"/>
                <a:cs typeface="+mn-cs"/>
              </a:rPr>
              <a:t>Other reframes for the same moment: “When you say ‘app’, what would it need to do for you to call it a success?” “What's driving that idea - what's not working today that made you think of it?” Don't dismiss the original suggestion outright - it's real signal about what the person has tried or seen elsewhere. Park it explicitly (“let's hold that thought and come back to it once we've mapped the problem”) and actually come back to it, or you lose their trust for the rest of the session.</a:t>
            </a:r>
          </a:p>
          <a:p>
            <a:endParaRPr lang="en-US" dirty="0"/>
          </a:p>
          <a:p>
            <a:pPr>
              <a:spcBef>
                <a:spcPts val="1200"/>
              </a:spcBef>
              <a:spcAft>
                <a:spcPts val="500"/>
              </a:spcAft>
              <a:buNone/>
            </a:pPr>
            <a:r>
              <a:rPr lang="en-GB" sz="1400" b="1" dirty="0">
                <a:solidFill>
                  <a:srgbClr val="1E2761"/>
                </a:solidFill>
                <a:effectLst/>
                <a:latin typeface="Times New Roman" panose="02020603050405020304" pitchFamily="18" charset="0"/>
              </a:rPr>
              <a:t>When to reintroduce technology</a:t>
            </a:r>
            <a:endParaRPr lang="en-GB" sz="1400" b="1" dirty="0">
              <a:solidFill>
                <a:srgbClr val="1F4D78"/>
              </a:solidFill>
              <a:effectLst/>
              <a:latin typeface="Times New Roman" panose="02020603050405020304" pitchFamily="18" charset="0"/>
            </a:endParaRPr>
          </a:p>
          <a:p>
            <a:pPr>
              <a:spcAft>
                <a:spcPts val="800"/>
              </a:spcAft>
              <a:buNone/>
            </a:pPr>
            <a:r>
              <a:rPr lang="en-GB" sz="1200" dirty="0">
                <a:effectLst/>
                <a:latin typeface="Times New Roman" panose="02020603050405020304" pitchFamily="18" charset="0"/>
                <a:ea typeface="Times New Roman" panose="02020603050405020304" pitchFamily="18" charset="0"/>
              </a:rPr>
              <a:t>Only after the problem, current state, and success criteria are validated with the people who do the work. Bring a tool into the room earlier and its constraints will quietly redefine the problem for you - including, and especially, when the project is really a migration between two toolsets and everyone already has an opinion about the destination.</a:t>
            </a:r>
            <a:endParaRPr lang="en-GB" sz="105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Every requirement is “must have” because no one has been asked to choose - or the architect makes the trade-off call alone, and it doesn't survive contact with the next stakeholder.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You cannot prioritise against ROI or time saved if nobody can state the current-state process well enough to know what the “before” number even is. Some organisations formalise this: if the business unit can't articulate their process, the initiative simply doesn't get prioritised - it sits in the backlog until they can. It's an acknowledgement that a prioritisation conversation held before Section 1's work is done is just people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MoSCoW</a:t>
            </a:r>
            <a:r>
              <a:rPr lang="en-US" dirty="0"/>
              <a:t> – honestly my preferred method of prioritization, identifying the Must, Should, Could and Won’t requirements. This is something simple for stakeholders to understand although occasionally will require a definition of what should fall into Must vs Should and occasionally you will have stakeholders that want to put everything in the Must</a:t>
            </a:r>
          </a:p>
          <a:p>
            <a:endParaRPr lang="en-US" dirty="0"/>
          </a:p>
          <a:p>
            <a:r>
              <a:rPr lang="en-US" dirty="0"/>
              <a:t>RICE – Reach, Impact, Confidence and Effort. You give each requirement a set of numbers, Reach gets an assignment of how many people/cases it affects, Impact could get a rating usually something like 3 is a massive impact, 2 is high impact, 1 is medium impact and 0.5 is low impact, Confidence is given a percentage and effort is how much work that requirement takes. You then do a calculation (Reach X Impact X Confidence)/Effort for each item and the resulting number gives you a ranked list. However the fall down with this is that all the number need to be defensible and justified and this can sometimes be difficult if you have multiple stakeholders who disagree on the impact.</a:t>
            </a:r>
          </a:p>
          <a:p>
            <a:endParaRPr lang="en-US" dirty="0"/>
          </a:p>
          <a:p>
            <a:r>
              <a:rPr lang="en-US" dirty="0"/>
              <a:t>Kano – This is an odd one, it’s not about urgency it’s more about what will make the user happy. It sorts requirements into 3 buckets:</a:t>
            </a:r>
          </a:p>
          <a:p>
            <a:r>
              <a:rPr lang="en-US" dirty="0"/>
              <a:t>Basic – Stuff that the user doesn’t notice when it’s there but if it’s missing are absolutely furious</a:t>
            </a:r>
          </a:p>
          <a:p>
            <a:r>
              <a:rPr lang="en-US" dirty="0"/>
              <a:t>Performance – If you do this then the users will be happy, the more of this you do the more happy the user</a:t>
            </a:r>
          </a:p>
          <a:p>
            <a:r>
              <a:rPr lang="en-US" dirty="0"/>
              <a:t>Delight – Unexpected bonuses, users won’t care if they are absent but overjoyed if they are present</a:t>
            </a:r>
          </a:p>
          <a:p>
            <a:endParaRPr lang="en-US" dirty="0"/>
          </a:p>
          <a:p>
            <a:r>
              <a:rPr lang="en-US" dirty="0"/>
              <a:t>You could potentially use a combination of all three of these but at different times, </a:t>
            </a:r>
            <a:r>
              <a:rPr lang="en-US" dirty="0" err="1"/>
              <a:t>MoSCoW</a:t>
            </a:r>
            <a:r>
              <a:rPr lang="en-US" dirty="0"/>
              <a:t> for in the workshop, RICE for any tie breakers where </a:t>
            </a:r>
            <a:r>
              <a:rPr lang="en-US" dirty="0" err="1"/>
              <a:t>MoSCow</a:t>
            </a:r>
            <a:r>
              <a:rPr lang="en-US" dirty="0"/>
              <a:t> gets stuck and Kano for what’s going to drive user adoption but employing at least one of these is essential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A few things to note when explaining prioritisation trade offs</a:t>
            </a:r>
          </a:p>
          <a:p>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Explaining trade-offs to non-technical stakeholders</a:t>
            </a:r>
          </a:p>
          <a:p>
            <a:pPr lvl="0"/>
            <a:r>
              <a:rPr lang="en-GB" sz="1200" kern="1200" dirty="0">
                <a:solidFill>
                  <a:schemeClr val="tx1"/>
                </a:solidFill>
                <a:effectLst/>
                <a:latin typeface="+mn-lt"/>
                <a:ea typeface="+mn-ea"/>
                <a:cs typeface="+mn-cs"/>
              </a:rPr>
              <a:t>Use the iron triangle in plain terms: “we can fix the time, the scope, or the cost - not all three. Which one flexes?”</a:t>
            </a:r>
          </a:p>
          <a:p>
            <a:pPr lvl="0"/>
            <a:r>
              <a:rPr lang="en-GB" sz="1200" kern="1200" dirty="0">
                <a:solidFill>
                  <a:schemeClr val="tx1"/>
                </a:solidFill>
                <a:effectLst/>
                <a:latin typeface="+mn-lt"/>
                <a:ea typeface="+mn-ea"/>
                <a:cs typeface="+mn-cs"/>
              </a:rPr>
              <a:t>Make the trade-off concrete, not abstract: “Saying yes to the approval workflow now means the mobile view slips to phase two - not because it's less important, but because they need the same two developers.”</a:t>
            </a:r>
          </a:p>
          <a:p>
            <a:pPr lvl="0"/>
            <a:r>
              <a:rPr lang="en-GB" sz="1200" kern="1200" dirty="0">
                <a:solidFill>
                  <a:schemeClr val="tx1"/>
                </a:solidFill>
                <a:effectLst/>
                <a:latin typeface="+mn-lt"/>
                <a:ea typeface="+mn-ea"/>
                <a:cs typeface="+mn-cs"/>
              </a:rPr>
              <a:t>Never be the sole arbiter. Run prioritisation as a group exercise - dot-voting on a whiteboard, forced ranking - so the business owns the decision and it survives the next stakeholder who complains about scope.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Recap, one sentence per section: ask better questions by going for depth over breadth; get the exception handler and the downstream consumer in the room, not just the sponsor; separate the stated solution from the real problem before you design; and make prioritisation a group decision, not an architect's opinion.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This session exists because this exact conversation happened in our own server - the two-hundred-exceptions story, the “which of you found this out two weeks before go-live” energy, the Google Form exchange, all of it. </a:t>
            </a:r>
            <a:r>
              <a:rPr lang="en-GB" sz="1200" kern="1200">
                <a:solidFill>
                  <a:schemeClr val="tx1"/>
                </a:solidFill>
                <a:effectLst/>
                <a:latin typeface="+mn-lt"/>
                <a:ea typeface="+mn-ea"/>
                <a:cs typeface="+mn-cs"/>
              </a:rPr>
              <a:t>Thank the room for it before opening the floor.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41A47"/>
          </a:solidFill>
          <a:ln/>
        </p:spPr>
        <p:txBody>
          <a:bodyPr/>
          <a:lstStyle/>
          <a:p>
            <a:endParaRPr lang="en-GB"/>
          </a:p>
        </p:txBody>
      </p:sp>
      <p:sp>
        <p:nvSpPr>
          <p:cNvPr id="3" name="Shape 1"/>
          <p:cNvSpPr/>
          <p:nvPr/>
        </p:nvSpPr>
        <p:spPr>
          <a:xfrm>
            <a:off x="-2286000" y="4389120"/>
            <a:ext cx="5029200" cy="5029200"/>
          </a:xfrm>
          <a:prstGeom prst="ellipse">
            <a:avLst/>
          </a:prstGeom>
          <a:solidFill>
            <a:srgbClr val="141A47"/>
          </a:solidFill>
          <a:ln/>
        </p:spPr>
        <p:txBody>
          <a:bodyPr/>
          <a:lstStyle/>
          <a:p>
            <a:endParaRPr lang="en-GB"/>
          </a:p>
        </p:txBody>
      </p:sp>
      <p:sp>
        <p:nvSpPr>
          <p:cNvPr id="4" name="Text 2"/>
          <p:cNvSpPr txBox="1"/>
          <p:nvPr/>
        </p:nvSpPr>
        <p:spPr>
          <a:xfrm>
            <a:off x="822960" y="1554480"/>
            <a:ext cx="10515600" cy="457200"/>
          </a:xfrm>
          <a:prstGeom prst="rect">
            <a:avLst/>
          </a:prstGeom>
          <a:noFill/>
          <a:ln/>
        </p:spPr>
        <p:txBody>
          <a:bodyPr wrap="square" lIns="0" tIns="0" rIns="0" bIns="0" rtlCol="0" anchor="ctr"/>
          <a:lstStyle/>
          <a:p>
            <a:pPr marL="0" indent="0">
              <a:buNone/>
            </a:pPr>
            <a:r>
              <a:rPr lang="en-US" sz="1400" b="1" kern="0" spc="300" dirty="0">
                <a:solidFill>
                  <a:srgbClr val="E8A33D"/>
                </a:solidFill>
                <a:latin typeface="Calibri" pitchFamily="34" charset="0"/>
                <a:ea typeface="Calibri" pitchFamily="34" charset="-122"/>
                <a:cs typeface="Calibri" pitchFamily="34" charset="-120"/>
              </a:rPr>
              <a:t>REQUIREMENTS GATHERING</a:t>
            </a:r>
            <a:endParaRPr lang="en-US" sz="1400" dirty="0"/>
          </a:p>
        </p:txBody>
      </p:sp>
      <p:sp>
        <p:nvSpPr>
          <p:cNvPr id="5" name="Text 3"/>
          <p:cNvSpPr txBox="1"/>
          <p:nvPr/>
        </p:nvSpPr>
        <p:spPr>
          <a:xfrm>
            <a:off x="822960" y="2011680"/>
            <a:ext cx="10058400" cy="18288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Tips on How to Be an Effective Architect During the Discovery Phase</a:t>
            </a:r>
            <a:endParaRPr lang="en-US" sz="4000" dirty="0"/>
          </a:p>
        </p:txBody>
      </p:sp>
      <p:sp>
        <p:nvSpPr>
          <p:cNvPr id="6" name="Text 4"/>
          <p:cNvSpPr txBox="1"/>
          <p:nvPr/>
        </p:nvSpPr>
        <p:spPr>
          <a:xfrm>
            <a:off x="822960" y="3794760"/>
            <a:ext cx="8686800" cy="64008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For architects and consultants who want more effective requirements-gathering sessions.</a:t>
            </a:r>
            <a:endParaRPr lang="en-US" sz="1600" dirty="0"/>
          </a:p>
        </p:txBody>
      </p:sp>
      <p:sp>
        <p:nvSpPr>
          <p:cNvPr id="7" name="Text 5"/>
          <p:cNvSpPr txBox="1"/>
          <p:nvPr/>
        </p:nvSpPr>
        <p:spPr>
          <a:xfrm>
            <a:off x="822960" y="5943600"/>
            <a:ext cx="54864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Will Johnson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691640"/>
            <a:ext cx="6675120" cy="4297680"/>
          </a:xfrm>
          <a:prstGeom prst="roundRect">
            <a:avLst>
              <a:gd name="adj" fmla="val 2553"/>
            </a:avLst>
          </a:prstGeom>
          <a:solidFill>
            <a:srgbClr val="F4F6FC"/>
          </a:solidFill>
          <a:ln/>
        </p:spPr>
        <p:txBody>
          <a:bodyPr/>
          <a:lstStyle/>
          <a:p>
            <a:endParaRPr lang="en-GB"/>
          </a:p>
        </p:txBody>
      </p:sp>
      <p:sp>
        <p:nvSpPr>
          <p:cNvPr id="5" name="Text 3"/>
          <p:cNvSpPr txBox="1"/>
          <p:nvPr/>
        </p:nvSpPr>
        <p:spPr>
          <a:xfrm>
            <a:off x="868680" y="1965960"/>
            <a:ext cx="6035040" cy="3749040"/>
          </a:xfrm>
          <a:prstGeom prst="rect">
            <a:avLst/>
          </a:prstGeom>
          <a:noFill/>
          <a:ln/>
        </p:spPr>
        <p:txBody>
          <a:bodyPr wrap="square" lIns="0" tIns="0" rIns="0" bIns="0" rtlCol="0" anchor="t"/>
          <a:lstStyle/>
          <a:p>
            <a:pPr marL="0" indent="0">
              <a:buNone/>
            </a:pPr>
            <a:r>
              <a:rPr lang="en-US" sz="2200" b="1" i="1" dirty="0">
                <a:solidFill>
                  <a:srgbClr val="1E2761"/>
                </a:solidFill>
                <a:latin typeface="Cambria" pitchFamily="34" charset="0"/>
                <a:ea typeface="Cambria" pitchFamily="34" charset="-122"/>
                <a:cs typeface="Cambria" pitchFamily="34" charset="-120"/>
              </a:rPr>
              <a:t>“There's no such thing as a stupid question. The chances are that if you have a question, someone else has the same one - so please ask.”</a:t>
            </a:r>
            <a:endParaRPr lang="en-US" sz="2200" dirty="0"/>
          </a:p>
        </p:txBody>
      </p:sp>
      <p:sp>
        <p:nvSpPr>
          <p:cNvPr id="6" name="Shape 4"/>
          <p:cNvSpPr/>
          <p:nvPr/>
        </p:nvSpPr>
        <p:spPr>
          <a:xfrm>
            <a:off x="7498080" y="1691640"/>
            <a:ext cx="4160520" cy="4297680"/>
          </a:xfrm>
          <a:prstGeom prst="roundRect">
            <a:avLst>
              <a:gd name="adj" fmla="val 2637"/>
            </a:avLst>
          </a:prstGeom>
          <a:solidFill>
            <a:srgbClr val="1E2761"/>
          </a:solidFill>
          <a:ln/>
        </p:spPr>
        <p:txBody>
          <a:bodyPr/>
          <a:lstStyle/>
          <a:p>
            <a:endParaRPr lang="en-GB"/>
          </a:p>
        </p:txBody>
      </p:sp>
      <p:sp>
        <p:nvSpPr>
          <p:cNvPr id="7" name="Shape 5"/>
          <p:cNvSpPr/>
          <p:nvPr/>
        </p:nvSpPr>
        <p:spPr>
          <a:xfrm>
            <a:off x="7818120" y="1965960"/>
            <a:ext cx="640080" cy="640080"/>
          </a:xfrm>
          <a:prstGeom prst="ellipse">
            <a:avLst/>
          </a:prstGeom>
          <a:solidFill>
            <a:srgbClr val="FFFFFF"/>
          </a:solidFill>
          <a:ln/>
        </p:spPr>
        <p:txBody>
          <a:bodyPr/>
          <a:lstStyle/>
          <a:p>
            <a:endParaRPr lang="en-GB"/>
          </a:p>
        </p:txBody>
      </p:sp>
      <p:pic>
        <p:nvPicPr>
          <p:cNvPr id="8" name="Image 0" descr="preencoded.png"/>
          <p:cNvPicPr>
            <a:picLocks noChangeAspect="1"/>
          </p:cNvPicPr>
          <p:nvPr/>
        </p:nvPicPr>
        <p:blipFill>
          <a:blip r:embed="rId3"/>
          <a:stretch>
            <a:fillRect/>
          </a:stretch>
        </p:blipFill>
        <p:spPr>
          <a:xfrm>
            <a:off x="7901330" y="2049170"/>
            <a:ext cx="473659" cy="473659"/>
          </a:xfrm>
          <a:prstGeom prst="rect">
            <a:avLst/>
          </a:prstGeom>
        </p:spPr>
      </p:pic>
      <p:sp>
        <p:nvSpPr>
          <p:cNvPr id="9" name="Text 6"/>
          <p:cNvSpPr txBox="1"/>
          <p:nvPr/>
        </p:nvSpPr>
        <p:spPr>
          <a:xfrm>
            <a:off x="7818120" y="2743200"/>
            <a:ext cx="3566160" cy="3063240"/>
          </a:xfrm>
          <a:prstGeom prst="rect">
            <a:avLst/>
          </a:prstGeom>
          <a:noFill/>
          <a:ln/>
        </p:spPr>
        <p:txBody>
          <a:bodyPr wrap="square" lIns="0" tIns="0" rIns="0" bIns="0" rtlCol="0" anchor="t"/>
          <a:lstStyle/>
          <a:p>
            <a:pPr marL="0" indent="0">
              <a:buNone/>
            </a:pPr>
            <a:r>
              <a:rPr lang="en-US" sz="1600" b="1" dirty="0">
                <a:solidFill>
                  <a:srgbClr val="E8A33D"/>
                </a:solidFill>
              </a:rPr>
              <a:t>How to ask
</a:t>
            </a:r>
            <a:endParaRPr lang="en-US" sz="1600" dirty="0"/>
          </a:p>
          <a:p>
            <a:pPr marL="0" indent="0">
              <a:buNone/>
            </a:pPr>
            <a:endParaRPr lang="en-US" sz="1600" dirty="0"/>
          </a:p>
          <a:p>
            <a:pPr marL="0" indent="0">
              <a:buNone/>
            </a:pPr>
            <a:r>
              <a:rPr lang="en-US" sz="1400" dirty="0">
                <a:solidFill>
                  <a:srgbClr val="FFFFFF"/>
                </a:solidFill>
              </a:rPr>
              <a:t>Drop your questions in the chat as we go. We'll address them together when we get to the open floor / Q&amp;A.</a:t>
            </a:r>
            <a:endParaRPr lang="en-US" sz="1600" dirty="0"/>
          </a:p>
        </p:txBody>
      </p:sp>
      <p:sp>
        <p:nvSpPr>
          <p:cNvPr id="10" name="Text 7"/>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11" name="Text 8"/>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Discovery mistakes – Landmines for later</a:t>
            </a:r>
            <a:endParaRPr lang="en-US" sz="3000" dirty="0"/>
          </a:p>
        </p:txBody>
      </p:sp>
      <p:sp>
        <p:nvSpPr>
          <p:cNvPr id="4" name="Shape 2"/>
          <p:cNvSpPr/>
          <p:nvPr/>
        </p:nvSpPr>
        <p:spPr>
          <a:xfrm>
            <a:off x="548640" y="1691640"/>
            <a:ext cx="6675120" cy="4297680"/>
          </a:xfrm>
          <a:prstGeom prst="roundRect">
            <a:avLst>
              <a:gd name="adj" fmla="val 2553"/>
            </a:avLst>
          </a:prstGeom>
          <a:solidFill>
            <a:srgbClr val="F4F6FC"/>
          </a:solidFill>
          <a:ln/>
        </p:spPr>
        <p:txBody>
          <a:bodyPr/>
          <a:lstStyle/>
          <a:p>
            <a:endParaRPr lang="en-GB"/>
          </a:p>
        </p:txBody>
      </p:sp>
      <p:sp>
        <p:nvSpPr>
          <p:cNvPr id="5" name="Text 3"/>
          <p:cNvSpPr txBox="1"/>
          <p:nvPr/>
        </p:nvSpPr>
        <p:spPr>
          <a:xfrm>
            <a:off x="868680" y="1965960"/>
            <a:ext cx="6035040" cy="3749040"/>
          </a:xfrm>
          <a:prstGeom prst="rect">
            <a:avLst/>
          </a:prstGeom>
          <a:noFill/>
          <a:ln/>
        </p:spPr>
        <p:txBody>
          <a:bodyPr wrap="square" lIns="0" tIns="0" rIns="0" bIns="0" rtlCol="0" anchor="t"/>
          <a:lstStyle/>
          <a:p>
            <a:pPr marL="0" indent="0">
              <a:buNone/>
            </a:pPr>
            <a:r>
              <a:rPr lang="en-US" sz="2200" b="1" i="1" dirty="0">
                <a:solidFill>
                  <a:srgbClr val="1E2761"/>
                </a:solidFill>
              </a:rPr>
              <a:t>“Oooh, you know we hadn't thought about how that process was going to work.”
</a:t>
            </a:r>
            <a:endParaRPr lang="en-US" sz="2200" dirty="0"/>
          </a:p>
          <a:p>
            <a:pPr marL="0" indent="0">
              <a:buNone/>
            </a:pPr>
            <a:endParaRPr lang="en-US" sz="2200" dirty="0"/>
          </a:p>
          <a:p>
            <a:pPr marL="0" indent="0">
              <a:buNone/>
            </a:pPr>
            <a:r>
              <a:rPr lang="en-US" sz="1500" dirty="0">
                <a:solidFill>
                  <a:srgbClr val="1A1A2E"/>
                </a:solidFill>
              </a:rPr>
              <a:t>Said on a call two weeks before go-live - about a process that was explicitly discussed as needing automation, in the requirements meeting.</a:t>
            </a:r>
            <a:endParaRPr lang="en-US" sz="2200" dirty="0"/>
          </a:p>
        </p:txBody>
      </p:sp>
      <p:sp>
        <p:nvSpPr>
          <p:cNvPr id="6" name="Shape 4"/>
          <p:cNvSpPr/>
          <p:nvPr/>
        </p:nvSpPr>
        <p:spPr>
          <a:xfrm>
            <a:off x="7498080" y="1691640"/>
            <a:ext cx="4160520" cy="4297680"/>
          </a:xfrm>
          <a:prstGeom prst="roundRect">
            <a:avLst>
              <a:gd name="adj" fmla="val 2637"/>
            </a:avLst>
          </a:prstGeom>
          <a:solidFill>
            <a:srgbClr val="1E2761"/>
          </a:solidFill>
          <a:ln/>
        </p:spPr>
        <p:txBody>
          <a:bodyPr/>
          <a:lstStyle/>
          <a:p>
            <a:endParaRPr lang="en-GB"/>
          </a:p>
        </p:txBody>
      </p:sp>
      <p:sp>
        <p:nvSpPr>
          <p:cNvPr id="7" name="Shape 5"/>
          <p:cNvSpPr/>
          <p:nvPr/>
        </p:nvSpPr>
        <p:spPr>
          <a:xfrm>
            <a:off x="7818120" y="1965960"/>
            <a:ext cx="640080" cy="640080"/>
          </a:xfrm>
          <a:prstGeom prst="ellipse">
            <a:avLst/>
          </a:prstGeom>
          <a:solidFill>
            <a:srgbClr val="FFFFFF"/>
          </a:solidFill>
          <a:ln/>
        </p:spPr>
        <p:txBody>
          <a:bodyPr/>
          <a:lstStyle/>
          <a:p>
            <a:endParaRPr lang="en-GB"/>
          </a:p>
        </p:txBody>
      </p:sp>
      <p:pic>
        <p:nvPicPr>
          <p:cNvPr id="8" name="Image 0" descr="preencoded.png"/>
          <p:cNvPicPr>
            <a:picLocks noChangeAspect="1"/>
          </p:cNvPicPr>
          <p:nvPr/>
        </p:nvPicPr>
        <p:blipFill>
          <a:blip r:embed="rId3"/>
          <a:stretch>
            <a:fillRect/>
          </a:stretch>
        </p:blipFill>
        <p:spPr>
          <a:xfrm>
            <a:off x="7901330" y="2049170"/>
            <a:ext cx="473659" cy="473659"/>
          </a:xfrm>
          <a:prstGeom prst="rect">
            <a:avLst/>
          </a:prstGeom>
        </p:spPr>
      </p:pic>
      <p:sp>
        <p:nvSpPr>
          <p:cNvPr id="9" name="Text 6"/>
          <p:cNvSpPr txBox="1"/>
          <p:nvPr/>
        </p:nvSpPr>
        <p:spPr>
          <a:xfrm>
            <a:off x="7818120" y="2743200"/>
            <a:ext cx="3566160" cy="3063240"/>
          </a:xfrm>
          <a:prstGeom prst="rect">
            <a:avLst/>
          </a:prstGeom>
          <a:noFill/>
          <a:ln/>
        </p:spPr>
        <p:txBody>
          <a:bodyPr wrap="square" lIns="0" tIns="0" rIns="0" bIns="0" rtlCol="0" anchor="t"/>
          <a:lstStyle/>
          <a:p>
            <a:pPr marL="0" indent="0">
              <a:buNone/>
            </a:pPr>
            <a:r>
              <a:rPr lang="en-US" sz="1600" b="1" dirty="0">
                <a:solidFill>
                  <a:srgbClr val="E8A33D"/>
                </a:solidFill>
              </a:rPr>
              <a:t>The other version
</a:t>
            </a:r>
            <a:endParaRPr lang="en-US" sz="1600" dirty="0"/>
          </a:p>
          <a:p>
            <a:pPr marL="0" indent="0">
              <a:buNone/>
            </a:pPr>
            <a:endParaRPr lang="en-US" sz="1600" dirty="0"/>
          </a:p>
          <a:p>
            <a:pPr marL="0" indent="0">
              <a:buNone/>
            </a:pPr>
            <a:r>
              <a:rPr lang="en-US" sz="1400" dirty="0">
                <a:solidFill>
                  <a:srgbClr val="FFFFFF"/>
                </a:solidFill>
              </a:rPr>
              <a:t>A process gets explained cleanly in the workshop. Everyone nods. Afterwards you find a list of 200 exceptions nobody mentioned.</a:t>
            </a:r>
            <a:endParaRPr lang="en-US" sz="1600" dirty="0"/>
          </a:p>
        </p:txBody>
      </p:sp>
      <p:sp>
        <p:nvSpPr>
          <p:cNvPr id="10" name="Text 7"/>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11" name="Text 8"/>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TODAY</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Four failure modes</a:t>
            </a:r>
            <a:endParaRPr lang="en-US" sz="3000" dirty="0"/>
          </a:p>
        </p:txBody>
      </p:sp>
      <p:sp>
        <p:nvSpPr>
          <p:cNvPr id="4" name="Shape 2"/>
          <p:cNvSpPr/>
          <p:nvPr/>
        </p:nvSpPr>
        <p:spPr>
          <a:xfrm>
            <a:off x="548640" y="1828800"/>
            <a:ext cx="2606040" cy="3931920"/>
          </a:xfrm>
          <a:prstGeom prst="roundRect">
            <a:avLst>
              <a:gd name="adj" fmla="val 3509"/>
            </a:avLst>
          </a:prstGeom>
          <a:solidFill>
            <a:srgbClr val="1E2761"/>
          </a:solidFill>
          <a:ln/>
        </p:spPr>
        <p:txBody>
          <a:bodyPr/>
          <a:lstStyle/>
          <a:p>
            <a:endParaRPr lang="en-GB"/>
          </a:p>
        </p:txBody>
      </p:sp>
      <p:sp>
        <p:nvSpPr>
          <p:cNvPr id="5" name="Text 3"/>
          <p:cNvSpPr txBox="1"/>
          <p:nvPr/>
        </p:nvSpPr>
        <p:spPr>
          <a:xfrm>
            <a:off x="731520" y="2057400"/>
            <a:ext cx="2194560" cy="914400"/>
          </a:xfrm>
          <a:prstGeom prst="rect">
            <a:avLst/>
          </a:prstGeom>
          <a:noFill/>
          <a:ln/>
        </p:spPr>
        <p:txBody>
          <a:bodyPr wrap="square" lIns="0" tIns="0" rIns="0" bIns="0" rtlCol="0" anchor="ctr"/>
          <a:lstStyle/>
          <a:p>
            <a:pPr marL="0" indent="0">
              <a:buNone/>
            </a:pPr>
            <a:r>
              <a:rPr lang="en-US" sz="4400" b="1" dirty="0">
                <a:solidFill>
                  <a:srgbClr val="E8A33D"/>
                </a:solidFill>
                <a:latin typeface="Cambria" pitchFamily="34" charset="0"/>
                <a:ea typeface="Cambria" pitchFamily="34" charset="-122"/>
                <a:cs typeface="Cambria" pitchFamily="34" charset="-120"/>
              </a:rPr>
              <a:t>1</a:t>
            </a:r>
            <a:endParaRPr lang="en-US" sz="4400" dirty="0"/>
          </a:p>
        </p:txBody>
      </p:sp>
      <p:sp>
        <p:nvSpPr>
          <p:cNvPr id="6" name="Text 4"/>
          <p:cNvSpPr txBox="1"/>
          <p:nvPr/>
        </p:nvSpPr>
        <p:spPr>
          <a:xfrm>
            <a:off x="731520" y="3063240"/>
            <a:ext cx="2240280" cy="91440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The right questions</a:t>
            </a:r>
            <a:endParaRPr lang="en-US" sz="1800" dirty="0"/>
          </a:p>
        </p:txBody>
      </p:sp>
      <p:sp>
        <p:nvSpPr>
          <p:cNvPr id="7" name="Text 5"/>
          <p:cNvSpPr txBox="1"/>
          <p:nvPr/>
        </p:nvSpPr>
        <p:spPr>
          <a:xfrm>
            <a:off x="731520" y="3977640"/>
            <a:ext cx="2240280" cy="160020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Surfacing real requirements, not assumed ones</a:t>
            </a:r>
            <a:endParaRPr lang="en-US" sz="1250" dirty="0"/>
          </a:p>
        </p:txBody>
      </p:sp>
      <p:sp>
        <p:nvSpPr>
          <p:cNvPr id="8" name="Shape 6"/>
          <p:cNvSpPr/>
          <p:nvPr/>
        </p:nvSpPr>
        <p:spPr>
          <a:xfrm>
            <a:off x="3364992" y="1828800"/>
            <a:ext cx="2606040" cy="3931920"/>
          </a:xfrm>
          <a:prstGeom prst="roundRect">
            <a:avLst>
              <a:gd name="adj" fmla="val 3509"/>
            </a:avLst>
          </a:prstGeom>
          <a:solidFill>
            <a:srgbClr val="F4F6FC"/>
          </a:solidFill>
          <a:ln/>
        </p:spPr>
        <p:txBody>
          <a:bodyPr/>
          <a:lstStyle/>
          <a:p>
            <a:endParaRPr lang="en-GB"/>
          </a:p>
        </p:txBody>
      </p:sp>
      <p:sp>
        <p:nvSpPr>
          <p:cNvPr id="9" name="Text 7"/>
          <p:cNvSpPr txBox="1"/>
          <p:nvPr/>
        </p:nvSpPr>
        <p:spPr>
          <a:xfrm>
            <a:off x="3547872" y="2057400"/>
            <a:ext cx="2194560" cy="914400"/>
          </a:xfrm>
          <a:prstGeom prst="rect">
            <a:avLst/>
          </a:prstGeom>
          <a:noFill/>
          <a:ln/>
        </p:spPr>
        <p:txBody>
          <a:bodyPr wrap="square" lIns="0" tIns="0" rIns="0" bIns="0" rtlCol="0" anchor="ctr"/>
          <a:lstStyle/>
          <a:p>
            <a:pPr marL="0" indent="0">
              <a:buNone/>
            </a:pPr>
            <a:r>
              <a:rPr lang="en-US" sz="4400" b="1" dirty="0">
                <a:solidFill>
                  <a:srgbClr val="1E2761"/>
                </a:solidFill>
                <a:latin typeface="Cambria" pitchFamily="34" charset="0"/>
                <a:ea typeface="Cambria" pitchFamily="34" charset="-122"/>
                <a:cs typeface="Cambria" pitchFamily="34" charset="-120"/>
              </a:rPr>
              <a:t>2</a:t>
            </a:r>
            <a:endParaRPr lang="en-US" sz="4400" dirty="0"/>
          </a:p>
        </p:txBody>
      </p:sp>
      <p:sp>
        <p:nvSpPr>
          <p:cNvPr id="10" name="Text 8"/>
          <p:cNvSpPr txBox="1"/>
          <p:nvPr/>
        </p:nvSpPr>
        <p:spPr>
          <a:xfrm>
            <a:off x="3547872" y="3063240"/>
            <a:ext cx="2240280" cy="914400"/>
          </a:xfrm>
          <a:prstGeom prst="rect">
            <a:avLst/>
          </a:prstGeom>
          <a:noFill/>
          <a:ln/>
        </p:spPr>
        <p:txBody>
          <a:bodyPr wrap="square" lIns="0" tIns="0" rIns="0" bIns="0" rtlCol="0" anchor="t"/>
          <a:lstStyle/>
          <a:p>
            <a:pPr marL="0" indent="0">
              <a:buNone/>
            </a:pPr>
            <a:r>
              <a:rPr lang="en-US" sz="1800" b="1" dirty="0">
                <a:solidFill>
                  <a:srgbClr val="1E2761"/>
                </a:solidFill>
                <a:latin typeface="Cambria" pitchFamily="34" charset="0"/>
                <a:ea typeface="Cambria" pitchFamily="34" charset="-122"/>
                <a:cs typeface="Cambria" pitchFamily="34" charset="-120"/>
              </a:rPr>
              <a:t>Who to get in the room</a:t>
            </a:r>
            <a:endParaRPr lang="en-US" sz="1800" dirty="0"/>
          </a:p>
        </p:txBody>
      </p:sp>
      <p:sp>
        <p:nvSpPr>
          <p:cNvPr id="11" name="Text 9"/>
          <p:cNvSpPr txBox="1"/>
          <p:nvPr/>
        </p:nvSpPr>
        <p:spPr>
          <a:xfrm>
            <a:off x="3547872" y="3977640"/>
            <a:ext cx="2240280" cy="1600200"/>
          </a:xfrm>
          <a:prstGeom prst="rect">
            <a:avLst/>
          </a:prstGeom>
          <a:noFill/>
          <a:ln/>
        </p:spPr>
        <p:txBody>
          <a:bodyPr wrap="square" lIns="0" tIns="0" rIns="0" bIns="0" rtlCol="0" anchor="t"/>
          <a:lstStyle/>
          <a:p>
            <a:pPr marL="0" indent="0">
              <a:buNone/>
            </a:pPr>
            <a:r>
              <a:rPr lang="en-US" sz="1250" dirty="0">
                <a:solidFill>
                  <a:srgbClr val="5A6280"/>
                </a:solidFill>
                <a:latin typeface="Calibri" pitchFamily="34" charset="0"/>
                <a:ea typeface="Calibri" pitchFamily="34" charset="-122"/>
                <a:cs typeface="Calibri" pitchFamily="34" charset="-120"/>
              </a:rPr>
              <a:t>The personas you actually need</a:t>
            </a:r>
            <a:endParaRPr lang="en-US" sz="1250" dirty="0"/>
          </a:p>
        </p:txBody>
      </p:sp>
      <p:sp>
        <p:nvSpPr>
          <p:cNvPr id="12" name="Shape 10"/>
          <p:cNvSpPr/>
          <p:nvPr/>
        </p:nvSpPr>
        <p:spPr>
          <a:xfrm>
            <a:off x="6181344" y="1828800"/>
            <a:ext cx="2606040" cy="3931920"/>
          </a:xfrm>
          <a:prstGeom prst="roundRect">
            <a:avLst>
              <a:gd name="adj" fmla="val 3509"/>
            </a:avLst>
          </a:prstGeom>
          <a:solidFill>
            <a:srgbClr val="1E2761"/>
          </a:solidFill>
          <a:ln/>
        </p:spPr>
        <p:txBody>
          <a:bodyPr/>
          <a:lstStyle/>
          <a:p>
            <a:endParaRPr lang="en-GB"/>
          </a:p>
        </p:txBody>
      </p:sp>
      <p:sp>
        <p:nvSpPr>
          <p:cNvPr id="13" name="Text 11"/>
          <p:cNvSpPr txBox="1"/>
          <p:nvPr/>
        </p:nvSpPr>
        <p:spPr>
          <a:xfrm>
            <a:off x="6364224" y="2057400"/>
            <a:ext cx="2194560" cy="914400"/>
          </a:xfrm>
          <a:prstGeom prst="rect">
            <a:avLst/>
          </a:prstGeom>
          <a:noFill/>
          <a:ln/>
        </p:spPr>
        <p:txBody>
          <a:bodyPr wrap="square" lIns="0" tIns="0" rIns="0" bIns="0" rtlCol="0" anchor="ctr"/>
          <a:lstStyle/>
          <a:p>
            <a:pPr marL="0" indent="0">
              <a:buNone/>
            </a:pPr>
            <a:r>
              <a:rPr lang="en-US" sz="4400" b="1" dirty="0">
                <a:solidFill>
                  <a:srgbClr val="E8A33D"/>
                </a:solidFill>
                <a:latin typeface="Cambria" pitchFamily="34" charset="0"/>
                <a:ea typeface="Cambria" pitchFamily="34" charset="-122"/>
                <a:cs typeface="Cambria" pitchFamily="34" charset="-120"/>
              </a:rPr>
              <a:t>3</a:t>
            </a:r>
            <a:endParaRPr lang="en-US" sz="4400" dirty="0"/>
          </a:p>
        </p:txBody>
      </p:sp>
      <p:sp>
        <p:nvSpPr>
          <p:cNvPr id="14" name="Text 12"/>
          <p:cNvSpPr txBox="1"/>
          <p:nvPr/>
        </p:nvSpPr>
        <p:spPr>
          <a:xfrm>
            <a:off x="6364224" y="3063240"/>
            <a:ext cx="2240280" cy="91440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Staying tech-agnostic</a:t>
            </a:r>
            <a:endParaRPr lang="en-US" sz="1800" dirty="0"/>
          </a:p>
        </p:txBody>
      </p:sp>
      <p:sp>
        <p:nvSpPr>
          <p:cNvPr id="15" name="Text 13"/>
          <p:cNvSpPr txBox="1"/>
          <p:nvPr/>
        </p:nvSpPr>
        <p:spPr>
          <a:xfrm>
            <a:off x="6364224" y="3977640"/>
            <a:ext cx="2240280" cy="160020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Keeping the conversation on problems, not solutions</a:t>
            </a:r>
            <a:endParaRPr lang="en-US" sz="1250" dirty="0"/>
          </a:p>
        </p:txBody>
      </p:sp>
      <p:sp>
        <p:nvSpPr>
          <p:cNvPr id="16" name="Shape 14"/>
          <p:cNvSpPr/>
          <p:nvPr/>
        </p:nvSpPr>
        <p:spPr>
          <a:xfrm>
            <a:off x="8997696" y="1828800"/>
            <a:ext cx="2606040" cy="3931920"/>
          </a:xfrm>
          <a:prstGeom prst="roundRect">
            <a:avLst>
              <a:gd name="adj" fmla="val 3509"/>
            </a:avLst>
          </a:prstGeom>
          <a:solidFill>
            <a:srgbClr val="F4F6FC"/>
          </a:solidFill>
          <a:ln/>
        </p:spPr>
        <p:txBody>
          <a:bodyPr/>
          <a:lstStyle/>
          <a:p>
            <a:endParaRPr lang="en-GB"/>
          </a:p>
        </p:txBody>
      </p:sp>
      <p:sp>
        <p:nvSpPr>
          <p:cNvPr id="17" name="Text 15"/>
          <p:cNvSpPr txBox="1"/>
          <p:nvPr/>
        </p:nvSpPr>
        <p:spPr>
          <a:xfrm>
            <a:off x="9180576" y="2057400"/>
            <a:ext cx="2194560" cy="914400"/>
          </a:xfrm>
          <a:prstGeom prst="rect">
            <a:avLst/>
          </a:prstGeom>
          <a:noFill/>
          <a:ln/>
        </p:spPr>
        <p:txBody>
          <a:bodyPr wrap="square" lIns="0" tIns="0" rIns="0" bIns="0" rtlCol="0" anchor="ctr"/>
          <a:lstStyle/>
          <a:p>
            <a:pPr marL="0" indent="0">
              <a:buNone/>
            </a:pPr>
            <a:r>
              <a:rPr lang="en-US" sz="4400" b="1" dirty="0">
                <a:solidFill>
                  <a:srgbClr val="1E2761"/>
                </a:solidFill>
                <a:latin typeface="Cambria" pitchFamily="34" charset="0"/>
                <a:ea typeface="Cambria" pitchFamily="34" charset="-122"/>
                <a:cs typeface="Cambria" pitchFamily="34" charset="-120"/>
              </a:rPr>
              <a:t>4</a:t>
            </a:r>
            <a:endParaRPr lang="en-US" sz="4400" dirty="0"/>
          </a:p>
        </p:txBody>
      </p:sp>
      <p:sp>
        <p:nvSpPr>
          <p:cNvPr id="18" name="Text 16"/>
          <p:cNvSpPr txBox="1"/>
          <p:nvPr/>
        </p:nvSpPr>
        <p:spPr>
          <a:xfrm>
            <a:off x="9180576" y="3063240"/>
            <a:ext cx="2240280" cy="914400"/>
          </a:xfrm>
          <a:prstGeom prst="rect">
            <a:avLst/>
          </a:prstGeom>
          <a:noFill/>
          <a:ln/>
        </p:spPr>
        <p:txBody>
          <a:bodyPr wrap="square" lIns="0" tIns="0" rIns="0" bIns="0" rtlCol="0" anchor="t"/>
          <a:lstStyle/>
          <a:p>
            <a:pPr marL="0" indent="0">
              <a:buNone/>
            </a:pPr>
            <a:r>
              <a:rPr lang="en-US" sz="1800" b="1" dirty="0">
                <a:solidFill>
                  <a:srgbClr val="1E2761"/>
                </a:solidFill>
                <a:latin typeface="Cambria" pitchFamily="34" charset="0"/>
                <a:ea typeface="Cambria" pitchFamily="34" charset="-122"/>
                <a:cs typeface="Cambria" pitchFamily="34" charset="-120"/>
              </a:rPr>
              <a:t>Prioritisation</a:t>
            </a:r>
            <a:endParaRPr lang="en-US" sz="1800" dirty="0"/>
          </a:p>
        </p:txBody>
      </p:sp>
      <p:sp>
        <p:nvSpPr>
          <p:cNvPr id="19" name="Text 17"/>
          <p:cNvSpPr txBox="1"/>
          <p:nvPr/>
        </p:nvSpPr>
        <p:spPr>
          <a:xfrm>
            <a:off x="9180576" y="3977640"/>
            <a:ext cx="2240280" cy="1600200"/>
          </a:xfrm>
          <a:prstGeom prst="rect">
            <a:avLst/>
          </a:prstGeom>
          <a:noFill/>
          <a:ln/>
        </p:spPr>
        <p:txBody>
          <a:bodyPr wrap="square" lIns="0" tIns="0" rIns="0" bIns="0" rtlCol="0" anchor="t"/>
          <a:lstStyle/>
          <a:p>
            <a:pPr marL="0" indent="0">
              <a:buNone/>
            </a:pPr>
            <a:r>
              <a:rPr lang="en-US" sz="1250" dirty="0">
                <a:solidFill>
                  <a:srgbClr val="5A6280"/>
                </a:solidFill>
                <a:latin typeface="Calibri" pitchFamily="34" charset="0"/>
                <a:ea typeface="Calibri" pitchFamily="34" charset="-122"/>
                <a:cs typeface="Calibri" pitchFamily="34" charset="-120"/>
              </a:rPr>
              <a:t>Structuring trade-offs for non-technical stakeholders</a:t>
            </a:r>
            <a:endParaRPr lang="en-US" sz="1250" dirty="0"/>
          </a:p>
        </p:txBody>
      </p:sp>
      <p:sp>
        <p:nvSpPr>
          <p:cNvPr id="20" name="Text 18"/>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21" name="Text 19"/>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47"/>
          </a:solidFill>
          <a:ln/>
        </p:spPr>
        <p:txBody>
          <a:bodyPr/>
          <a:lstStyle/>
          <a:p>
            <a:endParaRPr lang="en-GB"/>
          </a:p>
        </p:txBody>
      </p:sp>
      <p:sp>
        <p:nvSpPr>
          <p:cNvPr id="3" name="Text 1"/>
          <p:cNvSpPr txBox="1"/>
          <p:nvPr/>
        </p:nvSpPr>
        <p:spPr>
          <a:xfrm>
            <a:off x="822960" y="1463040"/>
            <a:ext cx="3200400" cy="3200400"/>
          </a:xfrm>
          <a:prstGeom prst="rect">
            <a:avLst/>
          </a:prstGeom>
          <a:noFill/>
          <a:ln/>
        </p:spPr>
        <p:txBody>
          <a:bodyPr wrap="square" lIns="0" tIns="0" rIns="0" bIns="0" rtlCol="0" anchor="ctr"/>
          <a:lstStyle/>
          <a:p>
            <a:pPr marL="0" indent="0" algn="l">
              <a:buNone/>
            </a:pPr>
            <a:r>
              <a:rPr lang="en-US" sz="22000" b="1" dirty="0">
                <a:solidFill>
                  <a:srgbClr val="1E2761"/>
                </a:solidFill>
                <a:latin typeface="Cambria" pitchFamily="34" charset="0"/>
                <a:ea typeface="Cambria" pitchFamily="34" charset="-122"/>
                <a:cs typeface="Cambria" pitchFamily="34" charset="-120"/>
              </a:rPr>
              <a:t>1</a:t>
            </a:r>
            <a:endParaRPr lang="en-US" sz="22000" dirty="0"/>
          </a:p>
        </p:txBody>
      </p:sp>
      <p:sp>
        <p:nvSpPr>
          <p:cNvPr id="4" name="Text 2"/>
          <p:cNvSpPr txBox="1"/>
          <p:nvPr/>
        </p:nvSpPr>
        <p:spPr>
          <a:xfrm>
            <a:off x="3566160" y="2651760"/>
            <a:ext cx="7863840" cy="146304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The Right Questions</a:t>
            </a:r>
            <a:endParaRPr lang="en-US" sz="4000" dirty="0"/>
          </a:p>
        </p:txBody>
      </p:sp>
      <p:sp>
        <p:nvSpPr>
          <p:cNvPr id="5" name="Text 3"/>
          <p:cNvSpPr txBox="1"/>
          <p:nvPr/>
        </p:nvSpPr>
        <p:spPr>
          <a:xfrm>
            <a:off x="3566160" y="3931920"/>
            <a:ext cx="7863840" cy="731520"/>
          </a:xfrm>
          <a:prstGeom prst="rect">
            <a:avLst/>
          </a:prstGeom>
          <a:noFill/>
          <a:ln/>
        </p:spPr>
        <p:txBody>
          <a:bodyPr wrap="square" lIns="0" tIns="0" rIns="0" bIns="0" rtlCol="0" anchor="t"/>
          <a:lstStyle/>
          <a:p>
            <a:pPr marL="0" indent="0" algn="l">
              <a:buNone/>
            </a:pPr>
            <a:r>
              <a:rPr lang="en-US" sz="1600" i="1" dirty="0">
                <a:solidFill>
                  <a:srgbClr val="CADCFC"/>
                </a:solidFill>
                <a:latin typeface="Calibri" pitchFamily="34" charset="0"/>
                <a:ea typeface="Calibri" pitchFamily="34" charset="-122"/>
                <a:cs typeface="Calibri" pitchFamily="34" charset="-120"/>
              </a:rPr>
              <a:t>Depth beats breadth</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SECTION 1</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Six question categories, worked in order</a:t>
            </a:r>
            <a:endParaRPr lang="en-US" sz="3000" dirty="0"/>
          </a:p>
        </p:txBody>
      </p:sp>
      <p:sp>
        <p:nvSpPr>
          <p:cNvPr id="4" name="Shape 2"/>
          <p:cNvSpPr/>
          <p:nvPr/>
        </p:nvSpPr>
        <p:spPr>
          <a:xfrm>
            <a:off x="548640" y="1691640"/>
            <a:ext cx="566928" cy="566928"/>
          </a:xfrm>
          <a:prstGeom prst="ellipse">
            <a:avLst/>
          </a:prstGeom>
          <a:solidFill>
            <a:srgbClr val="1E2761"/>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622341" y="1765341"/>
            <a:ext cx="419527" cy="419527"/>
          </a:xfrm>
          <a:prstGeom prst="rect">
            <a:avLst/>
          </a:prstGeom>
        </p:spPr>
      </p:pic>
      <p:sp>
        <p:nvSpPr>
          <p:cNvPr id="6" name="Text 3"/>
          <p:cNvSpPr txBox="1"/>
          <p:nvPr/>
        </p:nvSpPr>
        <p:spPr>
          <a:xfrm>
            <a:off x="1280160" y="1645920"/>
            <a:ext cx="493776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Current state</a:t>
            </a:r>
            <a:endParaRPr lang="en-US" sz="1500" dirty="0"/>
          </a:p>
        </p:txBody>
      </p:sp>
      <p:sp>
        <p:nvSpPr>
          <p:cNvPr id="7" name="Text 4"/>
          <p:cNvSpPr txBox="1"/>
          <p:nvPr/>
        </p:nvSpPr>
        <p:spPr>
          <a:xfrm>
            <a:off x="1280160" y="2011680"/>
            <a:ext cx="4937760" cy="822960"/>
          </a:xfrm>
          <a:prstGeom prst="rect">
            <a:avLst/>
          </a:prstGeom>
          <a:noFill/>
          <a:ln/>
        </p:spPr>
        <p:txBody>
          <a:bodyPr wrap="square" lIns="0" tIns="0" rIns="0" bIns="0" rtlCol="0" anchor="t"/>
          <a:lstStyle/>
          <a:p>
            <a:pPr marL="0" indent="0">
              <a:buNone/>
            </a:pPr>
            <a:r>
              <a:rPr lang="en-US" sz="1200" i="1" dirty="0">
                <a:solidFill>
                  <a:srgbClr val="5A6280"/>
                </a:solidFill>
                <a:latin typeface="Calibri" pitchFamily="34" charset="0"/>
                <a:ea typeface="Calibri" pitchFamily="34" charset="-122"/>
                <a:cs typeface="Calibri" pitchFamily="34" charset="-120"/>
              </a:rPr>
              <a:t>“Walk me through what you did the last time this happened.”</a:t>
            </a:r>
            <a:endParaRPr lang="en-US" sz="1200" dirty="0"/>
          </a:p>
        </p:txBody>
      </p:sp>
      <p:sp>
        <p:nvSpPr>
          <p:cNvPr id="8" name="Shape 5"/>
          <p:cNvSpPr/>
          <p:nvPr/>
        </p:nvSpPr>
        <p:spPr>
          <a:xfrm>
            <a:off x="6309360" y="1691640"/>
            <a:ext cx="566928" cy="566928"/>
          </a:xfrm>
          <a:prstGeom prst="ellipse">
            <a:avLst/>
          </a:prstGeom>
          <a:solidFill>
            <a:srgbClr val="1E2761"/>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383061" y="1765341"/>
            <a:ext cx="419527" cy="419527"/>
          </a:xfrm>
          <a:prstGeom prst="rect">
            <a:avLst/>
          </a:prstGeom>
        </p:spPr>
      </p:pic>
      <p:sp>
        <p:nvSpPr>
          <p:cNvPr id="10" name="Text 6"/>
          <p:cNvSpPr txBox="1"/>
          <p:nvPr/>
        </p:nvSpPr>
        <p:spPr>
          <a:xfrm>
            <a:off x="7040880" y="1645920"/>
            <a:ext cx="493776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rPr>
              <a:t>How does it hurt?</a:t>
            </a:r>
            <a:endParaRPr lang="en-US" sz="1500" dirty="0"/>
          </a:p>
        </p:txBody>
      </p:sp>
      <p:sp>
        <p:nvSpPr>
          <p:cNvPr id="11" name="Text 7"/>
          <p:cNvSpPr txBox="1"/>
          <p:nvPr/>
        </p:nvSpPr>
        <p:spPr>
          <a:xfrm>
            <a:off x="7040880" y="2011680"/>
            <a:ext cx="4937760" cy="822960"/>
          </a:xfrm>
          <a:prstGeom prst="rect">
            <a:avLst/>
          </a:prstGeom>
          <a:noFill/>
          <a:ln/>
        </p:spPr>
        <p:txBody>
          <a:bodyPr wrap="square" lIns="0" tIns="0" rIns="0" bIns="0" rtlCol="0" anchor="t"/>
          <a:lstStyle/>
          <a:p>
            <a:pPr marL="0" indent="0">
              <a:buNone/>
            </a:pPr>
            <a:r>
              <a:rPr lang="en-US" sz="1200" i="1" dirty="0">
                <a:solidFill>
                  <a:srgbClr val="5A6280"/>
                </a:solidFill>
                <a:latin typeface="Calibri" pitchFamily="34" charset="0"/>
                <a:ea typeface="Calibri" pitchFamily="34" charset="-122"/>
                <a:cs typeface="Calibri" pitchFamily="34" charset="-120"/>
              </a:rPr>
              <a:t>“How often? How long? How many people, end to end?”</a:t>
            </a:r>
            <a:endParaRPr lang="en-US" sz="1200" dirty="0"/>
          </a:p>
        </p:txBody>
      </p:sp>
      <p:sp>
        <p:nvSpPr>
          <p:cNvPr id="12" name="Shape 8"/>
          <p:cNvSpPr/>
          <p:nvPr/>
        </p:nvSpPr>
        <p:spPr>
          <a:xfrm>
            <a:off x="548640" y="3246120"/>
            <a:ext cx="566928" cy="566928"/>
          </a:xfrm>
          <a:prstGeom prst="ellipse">
            <a:avLst/>
          </a:prstGeom>
          <a:solidFill>
            <a:srgbClr val="1E2761"/>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341" y="3319821"/>
            <a:ext cx="419527" cy="419527"/>
          </a:xfrm>
          <a:prstGeom prst="rect">
            <a:avLst/>
          </a:prstGeom>
        </p:spPr>
      </p:pic>
      <p:sp>
        <p:nvSpPr>
          <p:cNvPr id="14" name="Text 9"/>
          <p:cNvSpPr txBox="1"/>
          <p:nvPr/>
        </p:nvSpPr>
        <p:spPr>
          <a:xfrm>
            <a:off x="1280160" y="3200400"/>
            <a:ext cx="493776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Exceptions</a:t>
            </a:r>
            <a:endParaRPr lang="en-US" sz="1500" dirty="0"/>
          </a:p>
        </p:txBody>
      </p:sp>
      <p:sp>
        <p:nvSpPr>
          <p:cNvPr id="15" name="Text 10"/>
          <p:cNvSpPr txBox="1"/>
          <p:nvPr/>
        </p:nvSpPr>
        <p:spPr>
          <a:xfrm>
            <a:off x="1280160" y="3566160"/>
            <a:ext cx="4937760" cy="822960"/>
          </a:xfrm>
          <a:prstGeom prst="rect">
            <a:avLst/>
          </a:prstGeom>
          <a:noFill/>
          <a:ln/>
        </p:spPr>
        <p:txBody>
          <a:bodyPr wrap="square" lIns="0" tIns="0" rIns="0" bIns="0" rtlCol="0" anchor="t"/>
          <a:lstStyle/>
          <a:p>
            <a:pPr marL="0" indent="0">
              <a:buNone/>
            </a:pPr>
            <a:r>
              <a:rPr lang="en-US" sz="1200" i="1" dirty="0">
                <a:solidFill>
                  <a:srgbClr val="5A6280"/>
                </a:solidFill>
                <a:latin typeface="Calibri" pitchFamily="34" charset="0"/>
                <a:ea typeface="Calibri" pitchFamily="34" charset="-122"/>
                <a:cs typeface="Calibri" pitchFamily="34" charset="-120"/>
              </a:rPr>
              <a:t>“What's the messiest version of this you've dealt with?”</a:t>
            </a:r>
            <a:endParaRPr lang="en-US" sz="1200" dirty="0"/>
          </a:p>
        </p:txBody>
      </p:sp>
      <p:sp>
        <p:nvSpPr>
          <p:cNvPr id="16" name="Shape 11"/>
          <p:cNvSpPr/>
          <p:nvPr/>
        </p:nvSpPr>
        <p:spPr>
          <a:xfrm>
            <a:off x="6309360" y="3246120"/>
            <a:ext cx="566928" cy="566928"/>
          </a:xfrm>
          <a:prstGeom prst="ellipse">
            <a:avLst/>
          </a:prstGeom>
          <a:solidFill>
            <a:srgbClr val="1E2761"/>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383061" y="3319821"/>
            <a:ext cx="419527" cy="419527"/>
          </a:xfrm>
          <a:prstGeom prst="rect">
            <a:avLst/>
          </a:prstGeom>
        </p:spPr>
      </p:pic>
      <p:sp>
        <p:nvSpPr>
          <p:cNvPr id="18" name="Text 12"/>
          <p:cNvSpPr txBox="1"/>
          <p:nvPr/>
        </p:nvSpPr>
        <p:spPr>
          <a:xfrm>
            <a:off x="7040880" y="3200400"/>
            <a:ext cx="493776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Success criteria</a:t>
            </a:r>
            <a:endParaRPr lang="en-US" sz="1500" dirty="0"/>
          </a:p>
        </p:txBody>
      </p:sp>
      <p:sp>
        <p:nvSpPr>
          <p:cNvPr id="19" name="Text 13"/>
          <p:cNvSpPr txBox="1"/>
          <p:nvPr/>
        </p:nvSpPr>
        <p:spPr>
          <a:xfrm>
            <a:off x="7040880" y="3566160"/>
            <a:ext cx="4937760" cy="822960"/>
          </a:xfrm>
          <a:prstGeom prst="rect">
            <a:avLst/>
          </a:prstGeom>
          <a:noFill/>
          <a:ln/>
        </p:spPr>
        <p:txBody>
          <a:bodyPr wrap="square" lIns="0" tIns="0" rIns="0" bIns="0" rtlCol="0" anchor="t"/>
          <a:lstStyle/>
          <a:p>
            <a:pPr marL="0" indent="0">
              <a:buNone/>
            </a:pPr>
            <a:r>
              <a:rPr lang="en-US" sz="1200" i="1" dirty="0">
                <a:solidFill>
                  <a:srgbClr val="5A6280"/>
                </a:solidFill>
                <a:latin typeface="Calibri" pitchFamily="34" charset="0"/>
                <a:ea typeface="Calibri" pitchFamily="34" charset="-122"/>
                <a:cs typeface="Calibri" pitchFamily="34" charset="-120"/>
              </a:rPr>
              <a:t>“What's different on a Tuesday six months from now?”</a:t>
            </a:r>
            <a:endParaRPr lang="en-US" sz="1200" dirty="0"/>
          </a:p>
        </p:txBody>
      </p:sp>
      <p:sp>
        <p:nvSpPr>
          <p:cNvPr id="20" name="Shape 14"/>
          <p:cNvSpPr/>
          <p:nvPr/>
        </p:nvSpPr>
        <p:spPr>
          <a:xfrm>
            <a:off x="548640" y="4800600"/>
            <a:ext cx="566928" cy="566928"/>
          </a:xfrm>
          <a:prstGeom prst="ellipse">
            <a:avLst/>
          </a:prstGeom>
          <a:solidFill>
            <a:srgbClr val="1E2761"/>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341" y="4874301"/>
            <a:ext cx="419527" cy="419527"/>
          </a:xfrm>
          <a:prstGeom prst="rect">
            <a:avLst/>
          </a:prstGeom>
        </p:spPr>
      </p:pic>
      <p:sp>
        <p:nvSpPr>
          <p:cNvPr id="22" name="Text 15"/>
          <p:cNvSpPr txBox="1"/>
          <p:nvPr/>
        </p:nvSpPr>
        <p:spPr>
          <a:xfrm>
            <a:off x="1280160" y="4754880"/>
            <a:ext cx="493776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Constraints</a:t>
            </a:r>
            <a:endParaRPr lang="en-US" sz="1500" dirty="0"/>
          </a:p>
        </p:txBody>
      </p:sp>
      <p:sp>
        <p:nvSpPr>
          <p:cNvPr id="23" name="Text 16"/>
          <p:cNvSpPr txBox="1"/>
          <p:nvPr/>
        </p:nvSpPr>
        <p:spPr>
          <a:xfrm>
            <a:off x="1280160" y="5120640"/>
            <a:ext cx="4937760" cy="822960"/>
          </a:xfrm>
          <a:prstGeom prst="rect">
            <a:avLst/>
          </a:prstGeom>
          <a:noFill/>
          <a:ln/>
        </p:spPr>
        <p:txBody>
          <a:bodyPr wrap="square" lIns="0" tIns="0" rIns="0" bIns="0" rtlCol="0" anchor="t"/>
          <a:lstStyle/>
          <a:p>
            <a:pPr marL="0" indent="0">
              <a:buNone/>
            </a:pPr>
            <a:r>
              <a:rPr lang="en-US" sz="1200" i="1" dirty="0">
                <a:solidFill>
                  <a:srgbClr val="5A6280"/>
                </a:solidFill>
                <a:latin typeface="Calibri" pitchFamily="34" charset="0"/>
                <a:ea typeface="Calibri" pitchFamily="34" charset="-122"/>
                <a:cs typeface="Calibri" pitchFamily="34" charset="-120"/>
              </a:rPr>
              <a:t>“What can't change? Who signs off, and on what?”</a:t>
            </a:r>
            <a:endParaRPr lang="en-US" sz="1200" dirty="0"/>
          </a:p>
        </p:txBody>
      </p:sp>
      <p:sp>
        <p:nvSpPr>
          <p:cNvPr id="24" name="Shape 17"/>
          <p:cNvSpPr/>
          <p:nvPr/>
        </p:nvSpPr>
        <p:spPr>
          <a:xfrm>
            <a:off x="6309360" y="4800600"/>
            <a:ext cx="566928" cy="566928"/>
          </a:xfrm>
          <a:prstGeom prst="ellipse">
            <a:avLst/>
          </a:prstGeom>
          <a:solidFill>
            <a:srgbClr val="1E2761"/>
          </a:solidFill>
          <a:ln/>
        </p:spPr>
        <p:txBody>
          <a:bodyPr/>
          <a:lstStyle/>
          <a:p>
            <a:endParaRPr lang="en-GB"/>
          </a:p>
        </p:txBody>
      </p:sp>
      <p:pic>
        <p:nvPicPr>
          <p:cNvPr id="25" name="Image 5" descr="preencoded.png"/>
          <p:cNvPicPr>
            <a:picLocks noChangeAspect="1"/>
          </p:cNvPicPr>
          <p:nvPr/>
        </p:nvPicPr>
        <p:blipFill>
          <a:blip r:embed="rId8"/>
          <a:stretch>
            <a:fillRect/>
          </a:stretch>
        </p:blipFill>
        <p:spPr>
          <a:xfrm>
            <a:off x="6383061" y="4874301"/>
            <a:ext cx="419527" cy="419527"/>
          </a:xfrm>
          <a:prstGeom prst="rect">
            <a:avLst/>
          </a:prstGeom>
        </p:spPr>
      </p:pic>
      <p:sp>
        <p:nvSpPr>
          <p:cNvPr id="26" name="Text 18"/>
          <p:cNvSpPr txBox="1"/>
          <p:nvPr/>
        </p:nvSpPr>
        <p:spPr>
          <a:xfrm>
            <a:off x="7040880" y="4754880"/>
            <a:ext cx="493776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Negative space</a:t>
            </a:r>
            <a:endParaRPr lang="en-US" sz="1500" dirty="0"/>
          </a:p>
        </p:txBody>
      </p:sp>
      <p:sp>
        <p:nvSpPr>
          <p:cNvPr id="27" name="Text 19"/>
          <p:cNvSpPr txBox="1"/>
          <p:nvPr/>
        </p:nvSpPr>
        <p:spPr>
          <a:xfrm>
            <a:off x="7040880" y="5120640"/>
            <a:ext cx="4937760" cy="822960"/>
          </a:xfrm>
          <a:prstGeom prst="rect">
            <a:avLst/>
          </a:prstGeom>
          <a:noFill/>
          <a:ln/>
        </p:spPr>
        <p:txBody>
          <a:bodyPr wrap="square" lIns="0" tIns="0" rIns="0" bIns="0" rtlCol="0" anchor="t"/>
          <a:lstStyle/>
          <a:p>
            <a:pPr marL="0" indent="0">
              <a:buNone/>
            </a:pPr>
            <a:r>
              <a:rPr lang="en-US" sz="1200" i="1" dirty="0">
                <a:solidFill>
                  <a:srgbClr val="5A6280"/>
                </a:solidFill>
                <a:latin typeface="Calibri" pitchFamily="34" charset="0"/>
                <a:ea typeface="Calibri" pitchFamily="34" charset="-122"/>
                <a:cs typeface="Calibri" pitchFamily="34" charset="-120"/>
              </a:rPr>
              <a:t>“What happens if we do nothing?”</a:t>
            </a:r>
            <a:endParaRPr lang="en-US" sz="1200" dirty="0"/>
          </a:p>
        </p:txBody>
      </p:sp>
      <p:sp>
        <p:nvSpPr>
          <p:cNvPr id="28" name="Text 20"/>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29" name="Text 21"/>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SECTION 1 - TECHNIQUE</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Two passes: standard process, then exceptions</a:t>
            </a:r>
            <a:endParaRPr lang="en-US" sz="3000" dirty="0"/>
          </a:p>
        </p:txBody>
      </p:sp>
      <p:sp>
        <p:nvSpPr>
          <p:cNvPr id="4" name="Shape 2"/>
          <p:cNvSpPr/>
          <p:nvPr/>
        </p:nvSpPr>
        <p:spPr>
          <a:xfrm>
            <a:off x="548640" y="1737360"/>
            <a:ext cx="5394960" cy="4206240"/>
          </a:xfrm>
          <a:prstGeom prst="roundRect">
            <a:avLst>
              <a:gd name="adj" fmla="val 2174"/>
            </a:avLst>
          </a:prstGeom>
          <a:solidFill>
            <a:srgbClr val="F4F6FC"/>
          </a:solidFill>
          <a:ln/>
        </p:spPr>
        <p:txBody>
          <a:bodyPr/>
          <a:lstStyle/>
          <a:p>
            <a:endParaRPr lang="en-GB"/>
          </a:p>
        </p:txBody>
      </p:sp>
      <p:sp>
        <p:nvSpPr>
          <p:cNvPr id="5" name="Text 3"/>
          <p:cNvSpPr txBox="1"/>
          <p:nvPr/>
        </p:nvSpPr>
        <p:spPr>
          <a:xfrm>
            <a:off x="868680" y="1965960"/>
            <a:ext cx="4754880" cy="41148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Pass 1 - the 80%</a:t>
            </a:r>
            <a:endParaRPr lang="en-US" sz="1700" dirty="0"/>
          </a:p>
        </p:txBody>
      </p:sp>
      <p:sp>
        <p:nvSpPr>
          <p:cNvPr id="6" name="Text 4"/>
          <p:cNvSpPr txBox="1"/>
          <p:nvPr/>
        </p:nvSpPr>
        <p:spPr>
          <a:xfrm>
            <a:off x="868680" y="2423160"/>
            <a:ext cx="4754880" cy="1188720"/>
          </a:xfrm>
          <a:prstGeom prst="rect">
            <a:avLst/>
          </a:prstGeom>
          <a:noFill/>
          <a:ln/>
        </p:spPr>
        <p:txBody>
          <a:bodyPr wrap="square" lIns="0" tIns="0" rIns="0" bIns="0" rtlCol="0" anchor="t"/>
          <a:lstStyle/>
          <a:p>
            <a:pPr marL="0" indent="0">
              <a:buNone/>
            </a:pPr>
            <a:r>
              <a:rPr lang="en-US" sz="1350" dirty="0">
                <a:solidFill>
                  <a:srgbClr val="1A1A2E"/>
                </a:solidFill>
                <a:latin typeface="Calibri" pitchFamily="34" charset="0"/>
                <a:ea typeface="Calibri" pitchFamily="34" charset="-122"/>
                <a:cs typeface="Calibri" pitchFamily="34" charset="-120"/>
              </a:rPr>
              <a:t>“Let's just focus on the standard process - we'll work up to the exceptions.” Get the normal path agreed before anything else.</a:t>
            </a:r>
            <a:endParaRPr lang="en-US" sz="1350" dirty="0"/>
          </a:p>
        </p:txBody>
      </p:sp>
      <p:sp>
        <p:nvSpPr>
          <p:cNvPr id="7" name="Text 5"/>
          <p:cNvSpPr txBox="1"/>
          <p:nvPr/>
        </p:nvSpPr>
        <p:spPr>
          <a:xfrm>
            <a:off x="868680" y="3749040"/>
            <a:ext cx="4754880" cy="41148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Pass 2 - the exceptions</a:t>
            </a:r>
            <a:endParaRPr lang="en-US" sz="1700" dirty="0"/>
          </a:p>
        </p:txBody>
      </p:sp>
      <p:sp>
        <p:nvSpPr>
          <p:cNvPr id="8" name="Text 6"/>
          <p:cNvSpPr txBox="1"/>
          <p:nvPr/>
        </p:nvSpPr>
        <p:spPr>
          <a:xfrm>
            <a:off x="868680" y="4206240"/>
            <a:ext cx="4754880" cy="1554480"/>
          </a:xfrm>
          <a:prstGeom prst="rect">
            <a:avLst/>
          </a:prstGeom>
          <a:noFill/>
          <a:ln/>
        </p:spPr>
        <p:txBody>
          <a:bodyPr wrap="square" lIns="0" tIns="0" rIns="0" bIns="0" rtlCol="0" anchor="t"/>
          <a:lstStyle/>
          <a:p>
            <a:pPr marL="0" indent="0">
              <a:buNone/>
            </a:pPr>
            <a:r>
              <a:rPr lang="en-US" sz="1350" dirty="0">
                <a:solidFill>
                  <a:srgbClr val="1A1A2E"/>
                </a:solidFill>
                <a:latin typeface="Calibri" pitchFamily="34" charset="0"/>
                <a:ea typeface="Calibri" pitchFamily="34" charset="-122"/>
                <a:cs typeface="Calibri" pitchFamily="34" charset="-120"/>
              </a:rPr>
              <a:t>A dedicated pass whose only job is: “what breaks this? What's the version that doesn't fit what you just told me?”</a:t>
            </a:r>
            <a:endParaRPr lang="en-US" sz="1350" dirty="0"/>
          </a:p>
        </p:txBody>
      </p:sp>
      <p:sp>
        <p:nvSpPr>
          <p:cNvPr id="9" name="Shape 7"/>
          <p:cNvSpPr/>
          <p:nvPr/>
        </p:nvSpPr>
        <p:spPr>
          <a:xfrm>
            <a:off x="6263640" y="1737360"/>
            <a:ext cx="5394960" cy="4206240"/>
          </a:xfrm>
          <a:prstGeom prst="roundRect">
            <a:avLst>
              <a:gd name="adj" fmla="val 2174"/>
            </a:avLst>
          </a:prstGeom>
          <a:solidFill>
            <a:srgbClr val="1E2761"/>
          </a:solidFill>
          <a:ln/>
        </p:spPr>
        <p:txBody>
          <a:bodyPr/>
          <a:lstStyle/>
          <a:p>
            <a:endParaRPr lang="en-GB"/>
          </a:p>
        </p:txBody>
      </p:sp>
      <p:sp>
        <p:nvSpPr>
          <p:cNvPr id="10" name="Text 8"/>
          <p:cNvSpPr txBox="1"/>
          <p:nvPr/>
        </p:nvSpPr>
        <p:spPr>
          <a:xfrm>
            <a:off x="6583680" y="2011680"/>
            <a:ext cx="4754880" cy="457200"/>
          </a:xfrm>
          <a:prstGeom prst="rect">
            <a:avLst/>
          </a:prstGeom>
          <a:noFill/>
          <a:ln/>
        </p:spPr>
        <p:txBody>
          <a:bodyPr wrap="square" lIns="0" tIns="0" rIns="0" bIns="0" rtlCol="0" anchor="ctr"/>
          <a:lstStyle/>
          <a:p>
            <a:pPr marL="0" indent="0">
              <a:buNone/>
            </a:pPr>
            <a:r>
              <a:rPr lang="en-US" sz="1600" b="1" dirty="0">
                <a:solidFill>
                  <a:srgbClr val="E8A33D"/>
                </a:solidFill>
                <a:latin typeface="Cambria" pitchFamily="34" charset="0"/>
                <a:ea typeface="Cambria" pitchFamily="34" charset="-122"/>
                <a:cs typeface="Cambria" pitchFamily="34" charset="-120"/>
              </a:rPr>
              <a:t>Every discovery session has a Tina.</a:t>
            </a:r>
            <a:endParaRPr lang="en-US" sz="1600" dirty="0"/>
          </a:p>
        </p:txBody>
      </p:sp>
      <p:sp>
        <p:nvSpPr>
          <p:cNvPr id="11" name="Text 9"/>
          <p:cNvSpPr txBox="1"/>
          <p:nvPr/>
        </p:nvSpPr>
        <p:spPr>
          <a:xfrm>
            <a:off x="6583680" y="2560320"/>
            <a:ext cx="4754880" cy="1828800"/>
          </a:xfrm>
          <a:prstGeom prst="rect">
            <a:avLst/>
          </a:prstGeom>
          <a:noFill/>
          <a:ln/>
        </p:spPr>
        <p:txBody>
          <a:bodyPr wrap="square" lIns="0" tIns="0" rIns="0" bIns="0" rtlCol="0" anchor="t"/>
          <a:lstStyle/>
          <a:p>
            <a:pPr marL="0" indent="0">
              <a:buNone/>
            </a:pPr>
            <a:r>
              <a:rPr lang="en-US" sz="1400" i="1" dirty="0">
                <a:solidFill>
                  <a:srgbClr val="FFFFFF"/>
                </a:solidFill>
                <a:latin typeface="Calibri" pitchFamily="34" charset="0"/>
                <a:ea typeface="Calibri" pitchFamily="34" charset="-122"/>
                <a:cs typeface="Calibri" pitchFamily="34" charset="-120"/>
              </a:rPr>
              <a:t>“Tina amends this, but only on the third Tuesday of the month, if Venus is in retrograde and her cat isn't ill - except on leap years, when it's Tom.”</a:t>
            </a:r>
            <a:endParaRPr lang="en-US" sz="1400" dirty="0"/>
          </a:p>
        </p:txBody>
      </p:sp>
      <p:sp>
        <p:nvSpPr>
          <p:cNvPr id="12" name="Text 10"/>
          <p:cNvSpPr txBox="1"/>
          <p:nvPr/>
        </p:nvSpPr>
        <p:spPr>
          <a:xfrm>
            <a:off x="6583680" y="4663440"/>
            <a:ext cx="4754880" cy="109728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Find her on purpose, in pass two - not by accident, in UAT.</a:t>
            </a:r>
            <a:endParaRPr lang="en-US" sz="1400" dirty="0"/>
          </a:p>
        </p:txBody>
      </p:sp>
      <p:sp>
        <p:nvSpPr>
          <p:cNvPr id="13" name="Text 11"/>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14" name="Text 12"/>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47"/>
          </a:solidFill>
          <a:ln/>
        </p:spPr>
        <p:txBody>
          <a:bodyPr/>
          <a:lstStyle/>
          <a:p>
            <a:endParaRPr lang="en-GB"/>
          </a:p>
        </p:txBody>
      </p:sp>
      <p:sp>
        <p:nvSpPr>
          <p:cNvPr id="3" name="Text 1"/>
          <p:cNvSpPr txBox="1"/>
          <p:nvPr/>
        </p:nvSpPr>
        <p:spPr>
          <a:xfrm>
            <a:off x="822960" y="1463040"/>
            <a:ext cx="3200400" cy="3200400"/>
          </a:xfrm>
          <a:prstGeom prst="rect">
            <a:avLst/>
          </a:prstGeom>
          <a:noFill/>
          <a:ln/>
        </p:spPr>
        <p:txBody>
          <a:bodyPr wrap="square" lIns="0" tIns="0" rIns="0" bIns="0" rtlCol="0" anchor="ctr"/>
          <a:lstStyle/>
          <a:p>
            <a:pPr marL="0" indent="0" algn="l">
              <a:buNone/>
            </a:pPr>
            <a:r>
              <a:rPr lang="en-US" sz="22000" b="1" dirty="0">
                <a:solidFill>
                  <a:srgbClr val="1E2761"/>
                </a:solidFill>
                <a:latin typeface="Cambria" pitchFamily="34" charset="0"/>
                <a:ea typeface="Cambria" pitchFamily="34" charset="-122"/>
                <a:cs typeface="Cambria" pitchFamily="34" charset="-120"/>
              </a:rPr>
              <a:t>2</a:t>
            </a:r>
            <a:endParaRPr lang="en-US" sz="22000" dirty="0"/>
          </a:p>
        </p:txBody>
      </p:sp>
      <p:sp>
        <p:nvSpPr>
          <p:cNvPr id="4" name="Text 2"/>
          <p:cNvSpPr txBox="1"/>
          <p:nvPr/>
        </p:nvSpPr>
        <p:spPr>
          <a:xfrm>
            <a:off x="3566160" y="2651760"/>
            <a:ext cx="7863840" cy="146304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Who to Get in the Room</a:t>
            </a:r>
            <a:endParaRPr lang="en-US" sz="4000" dirty="0"/>
          </a:p>
        </p:txBody>
      </p:sp>
      <p:sp>
        <p:nvSpPr>
          <p:cNvPr id="5" name="Text 3"/>
          <p:cNvSpPr txBox="1"/>
          <p:nvPr/>
        </p:nvSpPr>
        <p:spPr>
          <a:xfrm>
            <a:off x="3566160" y="3931920"/>
            <a:ext cx="7863840" cy="731520"/>
          </a:xfrm>
          <a:prstGeom prst="rect">
            <a:avLst/>
          </a:prstGeom>
          <a:noFill/>
          <a:ln/>
        </p:spPr>
        <p:txBody>
          <a:bodyPr wrap="square" lIns="0" tIns="0" rIns="0" bIns="0" rtlCol="0" anchor="t"/>
          <a:lstStyle/>
          <a:p>
            <a:pPr marL="0" indent="0" algn="l">
              <a:buNone/>
            </a:pPr>
            <a:r>
              <a:rPr lang="en-US" sz="1600" i="1" dirty="0">
                <a:solidFill>
                  <a:srgbClr val="CADCFC"/>
                </a:solidFill>
                <a:latin typeface="Calibri" pitchFamily="34" charset="0"/>
                <a:ea typeface="Calibri" pitchFamily="34" charset="-122"/>
                <a:cs typeface="Calibri" pitchFamily="34" charset="-120"/>
              </a:rPr>
              <a:t>Missing one persona derails delivery later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SECTION 2</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Six personas, and what each protects against</a:t>
            </a:r>
            <a:endParaRPr lang="en-US" sz="3000" dirty="0"/>
          </a:p>
        </p:txBody>
      </p:sp>
      <p:sp>
        <p:nvSpPr>
          <p:cNvPr id="4" name="Shape 2"/>
          <p:cNvSpPr/>
          <p:nvPr/>
        </p:nvSpPr>
        <p:spPr>
          <a:xfrm>
            <a:off x="548640" y="1737360"/>
            <a:ext cx="3566160" cy="2103120"/>
          </a:xfrm>
          <a:prstGeom prst="roundRect">
            <a:avLst>
              <a:gd name="adj" fmla="val 4348"/>
            </a:avLst>
          </a:prstGeom>
          <a:solidFill>
            <a:srgbClr val="F4F6FC"/>
          </a:solidFill>
          <a:ln/>
        </p:spPr>
        <p:txBody>
          <a:bodyPr/>
          <a:lstStyle/>
          <a:p>
            <a:endParaRPr lang="en-GB"/>
          </a:p>
        </p:txBody>
      </p:sp>
      <p:sp>
        <p:nvSpPr>
          <p:cNvPr id="5" name="Shape 3"/>
          <p:cNvSpPr/>
          <p:nvPr/>
        </p:nvSpPr>
        <p:spPr>
          <a:xfrm>
            <a:off x="804672" y="1993392"/>
            <a:ext cx="594360" cy="594360"/>
          </a:xfrm>
          <a:prstGeom prst="ellipse">
            <a:avLst/>
          </a:prstGeom>
          <a:solidFill>
            <a:srgbClr val="1E2761"/>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881939" y="2070659"/>
            <a:ext cx="439826" cy="439826"/>
          </a:xfrm>
          <a:prstGeom prst="rect">
            <a:avLst/>
          </a:prstGeom>
        </p:spPr>
      </p:pic>
      <p:sp>
        <p:nvSpPr>
          <p:cNvPr id="7" name="Text 4"/>
          <p:cNvSpPr txBox="1"/>
          <p:nvPr/>
        </p:nvSpPr>
        <p:spPr>
          <a:xfrm>
            <a:off x="804672" y="2697480"/>
            <a:ext cx="3108960" cy="457200"/>
          </a:xfrm>
          <a:prstGeom prst="rect">
            <a:avLst/>
          </a:prstGeom>
          <a:noFill/>
          <a:ln/>
        </p:spPr>
        <p:txBody>
          <a:bodyPr wrap="square" lIns="0" tIns="0" rIns="0" bIns="0" rtlCol="0" anchor="t"/>
          <a:lstStyle/>
          <a:p>
            <a:pPr marL="0" indent="0">
              <a:buNone/>
            </a:pPr>
            <a:r>
              <a:rPr lang="en-US" sz="1450" b="1" dirty="0">
                <a:solidFill>
                  <a:srgbClr val="1E2761"/>
                </a:solidFill>
                <a:latin typeface="Cambria" pitchFamily="34" charset="0"/>
                <a:ea typeface="Cambria" pitchFamily="34" charset="-122"/>
                <a:cs typeface="Cambria" pitchFamily="34" charset="-120"/>
              </a:rPr>
              <a:t>Sponsor / process owner</a:t>
            </a:r>
            <a:endParaRPr lang="en-US" sz="1450" dirty="0"/>
          </a:p>
        </p:txBody>
      </p:sp>
      <p:sp>
        <p:nvSpPr>
          <p:cNvPr id="8" name="Text 5"/>
          <p:cNvSpPr txBox="1"/>
          <p:nvPr/>
        </p:nvSpPr>
        <p:spPr>
          <a:xfrm>
            <a:off x="804672" y="3108960"/>
            <a:ext cx="3108960" cy="640080"/>
          </a:xfrm>
          <a:prstGeom prst="rect">
            <a:avLst/>
          </a:prstGeom>
          <a:noFill/>
          <a:ln/>
        </p:spPr>
        <p:txBody>
          <a:bodyPr wrap="square" lIns="0" tIns="0" rIns="0" bIns="0" rtlCol="0" anchor="t"/>
          <a:lstStyle/>
          <a:p>
            <a:pPr marL="0" indent="0">
              <a:buNone/>
            </a:pPr>
            <a:r>
              <a:rPr lang="en-US" sz="1150" dirty="0">
                <a:solidFill>
                  <a:srgbClr val="5A6280"/>
                </a:solidFill>
                <a:latin typeface="Calibri" pitchFamily="34" charset="0"/>
                <a:ea typeface="Calibri" pitchFamily="34" charset="-122"/>
                <a:cs typeface="Calibri" pitchFamily="34" charset="-120"/>
              </a:rPr>
              <a:t>Miss them: no one can arbitrate scope later</a:t>
            </a:r>
            <a:endParaRPr lang="en-US" sz="1150" dirty="0"/>
          </a:p>
        </p:txBody>
      </p:sp>
      <p:sp>
        <p:nvSpPr>
          <p:cNvPr id="9" name="Shape 6"/>
          <p:cNvSpPr/>
          <p:nvPr/>
        </p:nvSpPr>
        <p:spPr>
          <a:xfrm>
            <a:off x="4325112" y="1737360"/>
            <a:ext cx="3566160" cy="2103120"/>
          </a:xfrm>
          <a:prstGeom prst="roundRect">
            <a:avLst>
              <a:gd name="adj" fmla="val 4348"/>
            </a:avLst>
          </a:prstGeom>
          <a:solidFill>
            <a:srgbClr val="F4F6FC"/>
          </a:solidFill>
          <a:ln/>
        </p:spPr>
        <p:txBody>
          <a:bodyPr/>
          <a:lstStyle/>
          <a:p>
            <a:endParaRPr lang="en-GB"/>
          </a:p>
        </p:txBody>
      </p:sp>
      <p:sp>
        <p:nvSpPr>
          <p:cNvPr id="10" name="Shape 7"/>
          <p:cNvSpPr/>
          <p:nvPr/>
        </p:nvSpPr>
        <p:spPr>
          <a:xfrm>
            <a:off x="4581144" y="1993392"/>
            <a:ext cx="594360" cy="594360"/>
          </a:xfrm>
          <a:prstGeom prst="ellipse">
            <a:avLst/>
          </a:prstGeom>
          <a:solidFill>
            <a:srgbClr val="1E2761"/>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4658411" y="2070659"/>
            <a:ext cx="439826" cy="439826"/>
          </a:xfrm>
          <a:prstGeom prst="rect">
            <a:avLst/>
          </a:prstGeom>
        </p:spPr>
      </p:pic>
      <p:sp>
        <p:nvSpPr>
          <p:cNvPr id="12" name="Text 8"/>
          <p:cNvSpPr txBox="1"/>
          <p:nvPr/>
        </p:nvSpPr>
        <p:spPr>
          <a:xfrm>
            <a:off x="4581144" y="2697480"/>
            <a:ext cx="3108960" cy="457200"/>
          </a:xfrm>
          <a:prstGeom prst="rect">
            <a:avLst/>
          </a:prstGeom>
          <a:noFill/>
          <a:ln/>
        </p:spPr>
        <p:txBody>
          <a:bodyPr wrap="square" lIns="0" tIns="0" rIns="0" bIns="0" rtlCol="0" anchor="t"/>
          <a:lstStyle/>
          <a:p>
            <a:pPr marL="0" indent="0">
              <a:buNone/>
            </a:pPr>
            <a:r>
              <a:rPr lang="en-US" sz="1450" b="1" dirty="0">
                <a:solidFill>
                  <a:srgbClr val="1E2761"/>
                </a:solidFill>
                <a:latin typeface="Cambria" pitchFamily="34" charset="0"/>
                <a:ea typeface="Cambria" pitchFamily="34" charset="-122"/>
                <a:cs typeface="Cambria" pitchFamily="34" charset="-120"/>
              </a:rPr>
              <a:t>Day-to-day end user</a:t>
            </a:r>
            <a:endParaRPr lang="en-US" sz="1450" dirty="0"/>
          </a:p>
        </p:txBody>
      </p:sp>
      <p:sp>
        <p:nvSpPr>
          <p:cNvPr id="13" name="Text 9"/>
          <p:cNvSpPr txBox="1"/>
          <p:nvPr/>
        </p:nvSpPr>
        <p:spPr>
          <a:xfrm>
            <a:off x="4581144" y="3108960"/>
            <a:ext cx="3108960" cy="640080"/>
          </a:xfrm>
          <a:prstGeom prst="rect">
            <a:avLst/>
          </a:prstGeom>
          <a:noFill/>
          <a:ln/>
        </p:spPr>
        <p:txBody>
          <a:bodyPr wrap="square" lIns="0" tIns="0" rIns="0" bIns="0" rtlCol="0" anchor="t"/>
          <a:lstStyle/>
          <a:p>
            <a:pPr marL="0" indent="0">
              <a:buNone/>
            </a:pPr>
            <a:r>
              <a:rPr lang="en-US" sz="1150" dirty="0">
                <a:solidFill>
                  <a:srgbClr val="5A6280"/>
                </a:solidFill>
                <a:latin typeface="Calibri" pitchFamily="34" charset="0"/>
                <a:ea typeface="Calibri" pitchFamily="34" charset="-122"/>
                <a:cs typeface="Calibri" pitchFamily="34" charset="-120"/>
              </a:rPr>
              <a:t>Miss them: design reflects theory, not reality</a:t>
            </a:r>
            <a:endParaRPr lang="en-US" sz="1150" dirty="0"/>
          </a:p>
        </p:txBody>
      </p:sp>
      <p:sp>
        <p:nvSpPr>
          <p:cNvPr id="14" name="Shape 10"/>
          <p:cNvSpPr/>
          <p:nvPr/>
        </p:nvSpPr>
        <p:spPr>
          <a:xfrm>
            <a:off x="8101584" y="1737360"/>
            <a:ext cx="3566160" cy="2103120"/>
          </a:xfrm>
          <a:prstGeom prst="roundRect">
            <a:avLst>
              <a:gd name="adj" fmla="val 4348"/>
            </a:avLst>
          </a:prstGeom>
          <a:solidFill>
            <a:srgbClr val="F4F6FC"/>
          </a:solidFill>
          <a:ln/>
        </p:spPr>
        <p:txBody>
          <a:bodyPr/>
          <a:lstStyle/>
          <a:p>
            <a:endParaRPr lang="en-GB"/>
          </a:p>
        </p:txBody>
      </p:sp>
      <p:sp>
        <p:nvSpPr>
          <p:cNvPr id="15" name="Shape 11"/>
          <p:cNvSpPr/>
          <p:nvPr/>
        </p:nvSpPr>
        <p:spPr>
          <a:xfrm>
            <a:off x="8357616" y="1993392"/>
            <a:ext cx="594360" cy="594360"/>
          </a:xfrm>
          <a:prstGeom prst="ellipse">
            <a:avLst/>
          </a:prstGeom>
          <a:solidFill>
            <a:srgbClr val="1E2761"/>
          </a:solidFill>
          <a:ln/>
        </p:spPr>
        <p:txBody>
          <a:bodyPr/>
          <a:lstStyle/>
          <a:p>
            <a:endParaRPr lang="en-GB"/>
          </a:p>
        </p:txBody>
      </p:sp>
      <p:pic>
        <p:nvPicPr>
          <p:cNvPr id="16" name="Image 2" descr="preencoded.png"/>
          <p:cNvPicPr>
            <a:picLocks noChangeAspect="1"/>
          </p:cNvPicPr>
          <p:nvPr/>
        </p:nvPicPr>
        <p:blipFill>
          <a:blip r:embed="rId5"/>
          <a:stretch>
            <a:fillRect/>
          </a:stretch>
        </p:blipFill>
        <p:spPr>
          <a:xfrm>
            <a:off x="8434883" y="2070659"/>
            <a:ext cx="439826" cy="439826"/>
          </a:xfrm>
          <a:prstGeom prst="rect">
            <a:avLst/>
          </a:prstGeom>
        </p:spPr>
      </p:pic>
      <p:sp>
        <p:nvSpPr>
          <p:cNvPr id="17" name="Text 12"/>
          <p:cNvSpPr txBox="1"/>
          <p:nvPr/>
        </p:nvSpPr>
        <p:spPr>
          <a:xfrm>
            <a:off x="8357616" y="2697480"/>
            <a:ext cx="3108960" cy="457200"/>
          </a:xfrm>
          <a:prstGeom prst="rect">
            <a:avLst/>
          </a:prstGeom>
          <a:noFill/>
          <a:ln/>
        </p:spPr>
        <p:txBody>
          <a:bodyPr wrap="square" lIns="0" tIns="0" rIns="0" bIns="0" rtlCol="0" anchor="t"/>
          <a:lstStyle/>
          <a:p>
            <a:pPr marL="0" indent="0">
              <a:buNone/>
            </a:pPr>
            <a:r>
              <a:rPr lang="en-US" sz="1450" b="1" dirty="0">
                <a:solidFill>
                  <a:srgbClr val="1E2761"/>
                </a:solidFill>
                <a:latin typeface="Cambria" pitchFamily="34" charset="0"/>
                <a:ea typeface="Cambria" pitchFamily="34" charset="-122"/>
                <a:cs typeface="Cambria" pitchFamily="34" charset="-120"/>
              </a:rPr>
              <a:t>The exception handler</a:t>
            </a:r>
            <a:endParaRPr lang="en-US" sz="1450" dirty="0"/>
          </a:p>
        </p:txBody>
      </p:sp>
      <p:sp>
        <p:nvSpPr>
          <p:cNvPr id="18" name="Text 13"/>
          <p:cNvSpPr txBox="1"/>
          <p:nvPr/>
        </p:nvSpPr>
        <p:spPr>
          <a:xfrm>
            <a:off x="8357616" y="3108960"/>
            <a:ext cx="3108960" cy="640080"/>
          </a:xfrm>
          <a:prstGeom prst="rect">
            <a:avLst/>
          </a:prstGeom>
          <a:noFill/>
          <a:ln/>
        </p:spPr>
        <p:txBody>
          <a:bodyPr wrap="square" lIns="0" tIns="0" rIns="0" bIns="0" rtlCol="0" anchor="t"/>
          <a:lstStyle/>
          <a:p>
            <a:pPr marL="0" indent="0">
              <a:buNone/>
            </a:pPr>
            <a:r>
              <a:rPr lang="en-US" sz="1150" dirty="0">
                <a:solidFill>
                  <a:srgbClr val="5A6280"/>
                </a:solidFill>
                <a:latin typeface="Calibri" pitchFamily="34" charset="0"/>
                <a:ea typeface="Calibri" pitchFamily="34" charset="-122"/>
                <a:cs typeface="Calibri" pitchFamily="34" charset="-120"/>
              </a:rPr>
              <a:t>Miss them: edge cases surface for the first time in UAT</a:t>
            </a:r>
            <a:endParaRPr lang="en-US" sz="1150" dirty="0"/>
          </a:p>
        </p:txBody>
      </p:sp>
      <p:sp>
        <p:nvSpPr>
          <p:cNvPr id="19" name="Shape 14"/>
          <p:cNvSpPr/>
          <p:nvPr/>
        </p:nvSpPr>
        <p:spPr>
          <a:xfrm>
            <a:off x="548640" y="4069080"/>
            <a:ext cx="3566160" cy="2103120"/>
          </a:xfrm>
          <a:prstGeom prst="roundRect">
            <a:avLst>
              <a:gd name="adj" fmla="val 4348"/>
            </a:avLst>
          </a:prstGeom>
          <a:solidFill>
            <a:srgbClr val="F4F6FC"/>
          </a:solidFill>
          <a:ln/>
        </p:spPr>
        <p:txBody>
          <a:bodyPr/>
          <a:lstStyle/>
          <a:p>
            <a:endParaRPr lang="en-GB"/>
          </a:p>
        </p:txBody>
      </p:sp>
      <p:sp>
        <p:nvSpPr>
          <p:cNvPr id="20" name="Shape 15"/>
          <p:cNvSpPr/>
          <p:nvPr/>
        </p:nvSpPr>
        <p:spPr>
          <a:xfrm>
            <a:off x="804672" y="4325112"/>
            <a:ext cx="594360" cy="594360"/>
          </a:xfrm>
          <a:prstGeom prst="ellipse">
            <a:avLst/>
          </a:prstGeom>
          <a:solidFill>
            <a:srgbClr val="1E2761"/>
          </a:solidFill>
          <a:ln/>
        </p:spPr>
        <p:txBody>
          <a:bodyPr/>
          <a:lstStyle/>
          <a:p>
            <a:endParaRPr lang="en-GB"/>
          </a:p>
        </p:txBody>
      </p:sp>
      <p:pic>
        <p:nvPicPr>
          <p:cNvPr id="21" name="Image 3" descr="preencoded.png"/>
          <p:cNvPicPr>
            <a:picLocks noChangeAspect="1"/>
          </p:cNvPicPr>
          <p:nvPr/>
        </p:nvPicPr>
        <p:blipFill>
          <a:blip r:embed="rId6"/>
          <a:stretch>
            <a:fillRect/>
          </a:stretch>
        </p:blipFill>
        <p:spPr>
          <a:xfrm>
            <a:off x="881939" y="4402379"/>
            <a:ext cx="439826" cy="439826"/>
          </a:xfrm>
          <a:prstGeom prst="rect">
            <a:avLst/>
          </a:prstGeom>
        </p:spPr>
      </p:pic>
      <p:sp>
        <p:nvSpPr>
          <p:cNvPr id="22" name="Text 16"/>
          <p:cNvSpPr txBox="1"/>
          <p:nvPr/>
        </p:nvSpPr>
        <p:spPr>
          <a:xfrm>
            <a:off x="804672" y="5029200"/>
            <a:ext cx="3108960" cy="457200"/>
          </a:xfrm>
          <a:prstGeom prst="rect">
            <a:avLst/>
          </a:prstGeom>
          <a:noFill/>
          <a:ln/>
        </p:spPr>
        <p:txBody>
          <a:bodyPr wrap="square" lIns="0" tIns="0" rIns="0" bIns="0" rtlCol="0" anchor="t"/>
          <a:lstStyle/>
          <a:p>
            <a:pPr marL="0" indent="0">
              <a:buNone/>
            </a:pPr>
            <a:r>
              <a:rPr lang="en-US" sz="1450" b="1" dirty="0">
                <a:solidFill>
                  <a:srgbClr val="1E2761"/>
                </a:solidFill>
                <a:latin typeface="Cambria" pitchFamily="34" charset="0"/>
                <a:ea typeface="Cambria" pitchFamily="34" charset="-122"/>
                <a:cs typeface="Cambria" pitchFamily="34" charset="-120"/>
              </a:rPr>
              <a:t>IT / security / compliance</a:t>
            </a:r>
            <a:endParaRPr lang="en-US" sz="1450" dirty="0"/>
          </a:p>
        </p:txBody>
      </p:sp>
      <p:sp>
        <p:nvSpPr>
          <p:cNvPr id="23" name="Text 17"/>
          <p:cNvSpPr txBox="1"/>
          <p:nvPr/>
        </p:nvSpPr>
        <p:spPr>
          <a:xfrm>
            <a:off x="804672" y="5440680"/>
            <a:ext cx="3108960" cy="640080"/>
          </a:xfrm>
          <a:prstGeom prst="rect">
            <a:avLst/>
          </a:prstGeom>
          <a:noFill/>
          <a:ln/>
        </p:spPr>
        <p:txBody>
          <a:bodyPr wrap="square" lIns="0" tIns="0" rIns="0" bIns="0" rtlCol="0" anchor="t"/>
          <a:lstStyle/>
          <a:p>
            <a:pPr marL="0" indent="0">
              <a:buNone/>
            </a:pPr>
            <a:r>
              <a:rPr lang="en-US" sz="1150" dirty="0">
                <a:solidFill>
                  <a:srgbClr val="5A6280"/>
                </a:solidFill>
                <a:latin typeface="Calibri" pitchFamily="34" charset="0"/>
                <a:ea typeface="Calibri" pitchFamily="34" charset="-122"/>
                <a:cs typeface="Calibri" pitchFamily="34" charset="-120"/>
              </a:rPr>
              <a:t>Miss them: rework after a late architecture review</a:t>
            </a:r>
            <a:endParaRPr lang="en-US" sz="1150" dirty="0"/>
          </a:p>
        </p:txBody>
      </p:sp>
      <p:sp>
        <p:nvSpPr>
          <p:cNvPr id="24" name="Shape 18"/>
          <p:cNvSpPr/>
          <p:nvPr/>
        </p:nvSpPr>
        <p:spPr>
          <a:xfrm>
            <a:off x="4325112" y="4069080"/>
            <a:ext cx="3566160" cy="2103120"/>
          </a:xfrm>
          <a:prstGeom prst="roundRect">
            <a:avLst>
              <a:gd name="adj" fmla="val 4348"/>
            </a:avLst>
          </a:prstGeom>
          <a:solidFill>
            <a:srgbClr val="F4F6FC"/>
          </a:solidFill>
          <a:ln/>
        </p:spPr>
        <p:txBody>
          <a:bodyPr/>
          <a:lstStyle/>
          <a:p>
            <a:endParaRPr lang="en-GB"/>
          </a:p>
        </p:txBody>
      </p:sp>
      <p:sp>
        <p:nvSpPr>
          <p:cNvPr id="25" name="Shape 19"/>
          <p:cNvSpPr/>
          <p:nvPr/>
        </p:nvSpPr>
        <p:spPr>
          <a:xfrm>
            <a:off x="4581144" y="4325112"/>
            <a:ext cx="594360" cy="594360"/>
          </a:xfrm>
          <a:prstGeom prst="ellipse">
            <a:avLst/>
          </a:prstGeom>
          <a:solidFill>
            <a:srgbClr val="1E2761"/>
          </a:solidFill>
          <a:ln/>
        </p:spPr>
        <p:txBody>
          <a:bodyPr/>
          <a:lstStyle/>
          <a:p>
            <a:endParaRPr lang="en-GB"/>
          </a:p>
        </p:txBody>
      </p:sp>
      <p:pic>
        <p:nvPicPr>
          <p:cNvPr id="26" name="Image 4" descr="preencoded.png"/>
          <p:cNvPicPr>
            <a:picLocks noChangeAspect="1"/>
          </p:cNvPicPr>
          <p:nvPr/>
        </p:nvPicPr>
        <p:blipFill>
          <a:blip r:embed="rId7"/>
          <a:stretch>
            <a:fillRect/>
          </a:stretch>
        </p:blipFill>
        <p:spPr>
          <a:xfrm>
            <a:off x="4658411" y="4402379"/>
            <a:ext cx="439826" cy="439826"/>
          </a:xfrm>
          <a:prstGeom prst="rect">
            <a:avLst/>
          </a:prstGeom>
        </p:spPr>
      </p:pic>
      <p:sp>
        <p:nvSpPr>
          <p:cNvPr id="27" name="Text 20"/>
          <p:cNvSpPr txBox="1"/>
          <p:nvPr/>
        </p:nvSpPr>
        <p:spPr>
          <a:xfrm>
            <a:off x="4581144" y="5029200"/>
            <a:ext cx="3108960" cy="457200"/>
          </a:xfrm>
          <a:prstGeom prst="rect">
            <a:avLst/>
          </a:prstGeom>
          <a:noFill/>
          <a:ln/>
        </p:spPr>
        <p:txBody>
          <a:bodyPr wrap="square" lIns="0" tIns="0" rIns="0" bIns="0" rtlCol="0" anchor="t"/>
          <a:lstStyle/>
          <a:p>
            <a:pPr marL="0" indent="0">
              <a:buNone/>
            </a:pPr>
            <a:r>
              <a:rPr lang="en-US" sz="1450" b="1" dirty="0">
                <a:solidFill>
                  <a:srgbClr val="1E2761"/>
                </a:solidFill>
                <a:latin typeface="Cambria" pitchFamily="34" charset="0"/>
                <a:ea typeface="Cambria" pitchFamily="34" charset="-122"/>
                <a:cs typeface="Cambria" pitchFamily="34" charset="-120"/>
              </a:rPr>
              <a:t>Downstream consumer</a:t>
            </a:r>
            <a:endParaRPr lang="en-US" sz="1450" dirty="0"/>
          </a:p>
        </p:txBody>
      </p:sp>
      <p:sp>
        <p:nvSpPr>
          <p:cNvPr id="28" name="Text 21"/>
          <p:cNvSpPr txBox="1"/>
          <p:nvPr/>
        </p:nvSpPr>
        <p:spPr>
          <a:xfrm>
            <a:off x="4581144" y="5440680"/>
            <a:ext cx="3108960" cy="640080"/>
          </a:xfrm>
          <a:prstGeom prst="rect">
            <a:avLst/>
          </a:prstGeom>
          <a:noFill/>
          <a:ln/>
        </p:spPr>
        <p:txBody>
          <a:bodyPr wrap="square" lIns="0" tIns="0" rIns="0" bIns="0" rtlCol="0" anchor="t"/>
          <a:lstStyle/>
          <a:p>
            <a:pPr marL="0" indent="0">
              <a:buNone/>
            </a:pPr>
            <a:r>
              <a:rPr lang="en-US" sz="1150" dirty="0">
                <a:solidFill>
                  <a:srgbClr val="5A6280"/>
                </a:solidFill>
                <a:latin typeface="Calibri" pitchFamily="34" charset="0"/>
                <a:ea typeface="Calibri" pitchFamily="34" charset="-122"/>
                <a:cs typeface="Calibri" pitchFamily="34" charset="-120"/>
              </a:rPr>
              <a:t>Miss them: you optimise the middle, break what's next</a:t>
            </a:r>
            <a:endParaRPr lang="en-US" sz="1150" dirty="0"/>
          </a:p>
        </p:txBody>
      </p:sp>
      <p:sp>
        <p:nvSpPr>
          <p:cNvPr id="29" name="Shape 22"/>
          <p:cNvSpPr/>
          <p:nvPr/>
        </p:nvSpPr>
        <p:spPr>
          <a:xfrm>
            <a:off x="8101584" y="4069080"/>
            <a:ext cx="3566160" cy="2103120"/>
          </a:xfrm>
          <a:prstGeom prst="roundRect">
            <a:avLst>
              <a:gd name="adj" fmla="val 4348"/>
            </a:avLst>
          </a:prstGeom>
          <a:solidFill>
            <a:srgbClr val="F4F6FC"/>
          </a:solidFill>
          <a:ln/>
        </p:spPr>
        <p:txBody>
          <a:bodyPr/>
          <a:lstStyle/>
          <a:p>
            <a:endParaRPr lang="en-GB"/>
          </a:p>
        </p:txBody>
      </p:sp>
      <p:sp>
        <p:nvSpPr>
          <p:cNvPr id="30" name="Shape 23"/>
          <p:cNvSpPr/>
          <p:nvPr/>
        </p:nvSpPr>
        <p:spPr>
          <a:xfrm>
            <a:off x="8357616" y="4325112"/>
            <a:ext cx="594360" cy="594360"/>
          </a:xfrm>
          <a:prstGeom prst="ellipse">
            <a:avLst/>
          </a:prstGeom>
          <a:solidFill>
            <a:srgbClr val="1E2761"/>
          </a:solidFill>
          <a:ln/>
        </p:spPr>
        <p:txBody>
          <a:bodyPr/>
          <a:lstStyle/>
          <a:p>
            <a:endParaRPr lang="en-GB"/>
          </a:p>
        </p:txBody>
      </p:sp>
      <p:pic>
        <p:nvPicPr>
          <p:cNvPr id="31" name="Image 5" descr="preencoded.png"/>
          <p:cNvPicPr>
            <a:picLocks noChangeAspect="1"/>
          </p:cNvPicPr>
          <p:nvPr/>
        </p:nvPicPr>
        <p:blipFill>
          <a:blip r:embed="rId8"/>
          <a:stretch>
            <a:fillRect/>
          </a:stretch>
        </p:blipFill>
        <p:spPr>
          <a:xfrm>
            <a:off x="8434883" y="4402379"/>
            <a:ext cx="439826" cy="439826"/>
          </a:xfrm>
          <a:prstGeom prst="rect">
            <a:avLst/>
          </a:prstGeom>
        </p:spPr>
      </p:pic>
      <p:sp>
        <p:nvSpPr>
          <p:cNvPr id="32" name="Text 24"/>
          <p:cNvSpPr txBox="1"/>
          <p:nvPr/>
        </p:nvSpPr>
        <p:spPr>
          <a:xfrm>
            <a:off x="8357616" y="5029200"/>
            <a:ext cx="3108960" cy="457200"/>
          </a:xfrm>
          <a:prstGeom prst="rect">
            <a:avLst/>
          </a:prstGeom>
          <a:noFill/>
          <a:ln/>
        </p:spPr>
        <p:txBody>
          <a:bodyPr wrap="square" lIns="0" tIns="0" rIns="0" bIns="0" rtlCol="0" anchor="t"/>
          <a:lstStyle/>
          <a:p>
            <a:pPr marL="0" indent="0">
              <a:buNone/>
            </a:pPr>
            <a:r>
              <a:rPr lang="en-US" sz="1450" b="1" dirty="0">
                <a:solidFill>
                  <a:srgbClr val="1E2761"/>
                </a:solidFill>
                <a:latin typeface="Cambria" pitchFamily="34" charset="0"/>
                <a:ea typeface="Cambria" pitchFamily="34" charset="-122"/>
                <a:cs typeface="Cambria" pitchFamily="34" charset="-120"/>
              </a:rPr>
              <a:t>Budget approver</a:t>
            </a:r>
            <a:endParaRPr lang="en-US" sz="1450" dirty="0"/>
          </a:p>
        </p:txBody>
      </p:sp>
      <p:sp>
        <p:nvSpPr>
          <p:cNvPr id="33" name="Text 25"/>
          <p:cNvSpPr txBox="1"/>
          <p:nvPr/>
        </p:nvSpPr>
        <p:spPr>
          <a:xfrm>
            <a:off x="8357616" y="5440680"/>
            <a:ext cx="3108960" cy="640080"/>
          </a:xfrm>
          <a:prstGeom prst="rect">
            <a:avLst/>
          </a:prstGeom>
          <a:noFill/>
          <a:ln/>
        </p:spPr>
        <p:txBody>
          <a:bodyPr wrap="square" lIns="0" tIns="0" rIns="0" bIns="0" rtlCol="0" anchor="t"/>
          <a:lstStyle/>
          <a:p>
            <a:pPr marL="0" indent="0">
              <a:buNone/>
            </a:pPr>
            <a:r>
              <a:rPr lang="en-US" sz="1150" dirty="0">
                <a:solidFill>
                  <a:srgbClr val="5A6280"/>
                </a:solidFill>
                <a:latin typeface="Calibri" pitchFamily="34" charset="0"/>
                <a:ea typeface="Calibri" pitchFamily="34" charset="-122"/>
                <a:cs typeface="Calibri" pitchFamily="34" charset="-120"/>
              </a:rPr>
              <a:t>Miss them: scope unwinds in a commercial conversation</a:t>
            </a:r>
            <a:endParaRPr lang="en-US" sz="1150" dirty="0"/>
          </a:p>
        </p:txBody>
      </p:sp>
      <p:sp>
        <p:nvSpPr>
          <p:cNvPr id="34" name="Text 26"/>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35" name="Text 27"/>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SECTION 2 - TECHNIQUE</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Finding who's missing, without an org chart</a:t>
            </a:r>
            <a:endParaRPr lang="en-US" sz="3000" dirty="0"/>
          </a:p>
        </p:txBody>
      </p:sp>
      <p:sp>
        <p:nvSpPr>
          <p:cNvPr id="4" name="Shape 2"/>
          <p:cNvSpPr/>
          <p:nvPr/>
        </p:nvSpPr>
        <p:spPr>
          <a:xfrm>
            <a:off x="548640" y="1828800"/>
            <a:ext cx="502920" cy="502920"/>
          </a:xfrm>
          <a:prstGeom prst="roundRect">
            <a:avLst>
              <a:gd name="adj" fmla="val 14545"/>
            </a:avLst>
          </a:prstGeom>
          <a:solidFill>
            <a:srgbClr val="E8A33D"/>
          </a:solidFill>
          <a:ln/>
        </p:spPr>
        <p:txBody>
          <a:bodyPr/>
          <a:lstStyle/>
          <a:p>
            <a:endParaRPr lang="en-GB"/>
          </a:p>
        </p:txBody>
      </p:sp>
      <p:sp>
        <p:nvSpPr>
          <p:cNvPr id="5" name="Text 3"/>
          <p:cNvSpPr txBox="1"/>
          <p:nvPr/>
        </p:nvSpPr>
        <p:spPr>
          <a:xfrm>
            <a:off x="548640" y="1828800"/>
            <a:ext cx="502920" cy="502920"/>
          </a:xfrm>
          <a:prstGeom prst="rect">
            <a:avLst/>
          </a:prstGeom>
          <a:noFill/>
          <a:ln/>
        </p:spPr>
        <p:txBody>
          <a:bodyPr wrap="square" lIns="0" tIns="0" rIns="0" bIns="0" rtlCol="0" anchor="ctr"/>
          <a:lstStyle/>
          <a:p>
            <a:pPr marL="0" indent="0" algn="ctr">
              <a:buNone/>
            </a:pPr>
            <a:r>
              <a:rPr lang="en-US" sz="2000" b="1" dirty="0">
                <a:solidFill>
                  <a:srgbClr val="141A47"/>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234440" y="1783080"/>
            <a:ext cx="10332720" cy="914400"/>
          </a:xfrm>
          <a:prstGeom prst="rect">
            <a:avLst/>
          </a:prstGeom>
          <a:noFill/>
          <a:ln/>
        </p:spPr>
        <p:txBody>
          <a:bodyPr wrap="square" lIns="0" tIns="0" rIns="0" bIns="0" rtlCol="0" anchor="ctr"/>
          <a:lstStyle/>
          <a:p>
            <a:pPr marL="0" indent="0">
              <a:buNone/>
            </a:pPr>
            <a:r>
              <a:rPr lang="en-US" sz="1600" dirty="0">
                <a:solidFill>
                  <a:srgbClr val="1A1A2E"/>
                </a:solidFill>
                <a:latin typeface="Calibri" pitchFamily="34" charset="0"/>
                <a:ea typeface="Calibri" pitchFamily="34" charset="-122"/>
                <a:cs typeface="Calibri" pitchFamily="34" charset="-120"/>
              </a:rPr>
              <a:t>“Who would be upset if we changed this without talking to them?” - ask the sponsor</a:t>
            </a:r>
            <a:endParaRPr lang="en-US" sz="1600" dirty="0"/>
          </a:p>
        </p:txBody>
      </p:sp>
      <p:sp>
        <p:nvSpPr>
          <p:cNvPr id="7" name="Shape 5"/>
          <p:cNvSpPr/>
          <p:nvPr/>
        </p:nvSpPr>
        <p:spPr>
          <a:xfrm>
            <a:off x="548640" y="3063240"/>
            <a:ext cx="502920" cy="502920"/>
          </a:xfrm>
          <a:prstGeom prst="roundRect">
            <a:avLst>
              <a:gd name="adj" fmla="val 14545"/>
            </a:avLst>
          </a:prstGeom>
          <a:solidFill>
            <a:srgbClr val="E8A33D"/>
          </a:solidFill>
          <a:ln/>
        </p:spPr>
        <p:txBody>
          <a:bodyPr/>
          <a:lstStyle/>
          <a:p>
            <a:endParaRPr lang="en-GB"/>
          </a:p>
        </p:txBody>
      </p:sp>
      <p:sp>
        <p:nvSpPr>
          <p:cNvPr id="8" name="Text 6"/>
          <p:cNvSpPr txBox="1"/>
          <p:nvPr/>
        </p:nvSpPr>
        <p:spPr>
          <a:xfrm>
            <a:off x="548640" y="3063240"/>
            <a:ext cx="502920" cy="502920"/>
          </a:xfrm>
          <a:prstGeom prst="rect">
            <a:avLst/>
          </a:prstGeom>
          <a:noFill/>
          <a:ln/>
        </p:spPr>
        <p:txBody>
          <a:bodyPr wrap="square" lIns="0" tIns="0" rIns="0" bIns="0" rtlCol="0" anchor="ctr"/>
          <a:lstStyle/>
          <a:p>
            <a:pPr marL="0" indent="0" algn="ctr">
              <a:buNone/>
            </a:pPr>
            <a:r>
              <a:rPr lang="en-US" sz="2000" b="1" dirty="0">
                <a:solidFill>
                  <a:srgbClr val="141A47"/>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1234440" y="3017520"/>
            <a:ext cx="10332720" cy="914400"/>
          </a:xfrm>
          <a:prstGeom prst="rect">
            <a:avLst/>
          </a:prstGeom>
          <a:noFill/>
          <a:ln/>
        </p:spPr>
        <p:txBody>
          <a:bodyPr wrap="square" lIns="0" tIns="0" rIns="0" bIns="0" rtlCol="0" anchor="ctr"/>
          <a:lstStyle/>
          <a:p>
            <a:pPr marL="0" indent="0">
              <a:buNone/>
            </a:pPr>
            <a:r>
              <a:rPr lang="en-US" sz="1600" dirty="0">
                <a:solidFill>
                  <a:srgbClr val="1A1A2E"/>
                </a:solidFill>
                <a:latin typeface="Calibri" pitchFamily="34" charset="0"/>
                <a:ea typeface="Calibri" pitchFamily="34" charset="-122"/>
                <a:cs typeface="Calibri" pitchFamily="34" charset="-120"/>
              </a:rPr>
              <a:t>“Who do you go to when this breaks?” - ask the end user; usually surfaces the exception handler</a:t>
            </a:r>
            <a:endParaRPr lang="en-US" sz="1600" dirty="0"/>
          </a:p>
        </p:txBody>
      </p:sp>
      <p:sp>
        <p:nvSpPr>
          <p:cNvPr id="10" name="Shape 8"/>
          <p:cNvSpPr/>
          <p:nvPr/>
        </p:nvSpPr>
        <p:spPr>
          <a:xfrm>
            <a:off x="548640" y="4297680"/>
            <a:ext cx="502920" cy="502920"/>
          </a:xfrm>
          <a:prstGeom prst="roundRect">
            <a:avLst>
              <a:gd name="adj" fmla="val 14545"/>
            </a:avLst>
          </a:prstGeom>
          <a:solidFill>
            <a:srgbClr val="E8A33D"/>
          </a:solidFill>
          <a:ln/>
        </p:spPr>
        <p:txBody>
          <a:bodyPr/>
          <a:lstStyle/>
          <a:p>
            <a:endParaRPr lang="en-GB"/>
          </a:p>
        </p:txBody>
      </p:sp>
      <p:sp>
        <p:nvSpPr>
          <p:cNvPr id="11" name="Text 9"/>
          <p:cNvSpPr txBox="1"/>
          <p:nvPr/>
        </p:nvSpPr>
        <p:spPr>
          <a:xfrm>
            <a:off x="548640" y="4297680"/>
            <a:ext cx="502920" cy="502920"/>
          </a:xfrm>
          <a:prstGeom prst="rect">
            <a:avLst/>
          </a:prstGeom>
          <a:noFill/>
          <a:ln/>
        </p:spPr>
        <p:txBody>
          <a:bodyPr wrap="square" lIns="0" tIns="0" rIns="0" bIns="0" rtlCol="0" anchor="ctr"/>
          <a:lstStyle/>
          <a:p>
            <a:pPr marL="0" indent="0" algn="ctr">
              <a:buNone/>
            </a:pPr>
            <a:r>
              <a:rPr lang="en-US" sz="2000" b="1" dirty="0">
                <a:solidFill>
                  <a:srgbClr val="141A47"/>
                </a:solidFill>
                <a:latin typeface="Cambria" pitchFamily="34" charset="0"/>
                <a:ea typeface="Cambria" pitchFamily="34" charset="-122"/>
                <a:cs typeface="Cambria" pitchFamily="34" charset="-120"/>
              </a:rPr>
              <a:t>3</a:t>
            </a:r>
            <a:endParaRPr lang="en-US" sz="2000" dirty="0"/>
          </a:p>
        </p:txBody>
      </p:sp>
      <p:sp>
        <p:nvSpPr>
          <p:cNvPr id="12" name="Text 10"/>
          <p:cNvSpPr txBox="1"/>
          <p:nvPr/>
        </p:nvSpPr>
        <p:spPr>
          <a:xfrm>
            <a:off x="1234440" y="4251960"/>
            <a:ext cx="10332720" cy="914400"/>
          </a:xfrm>
          <a:prstGeom prst="rect">
            <a:avLst/>
          </a:prstGeom>
          <a:noFill/>
          <a:ln/>
        </p:spPr>
        <p:txBody>
          <a:bodyPr wrap="square" lIns="0" tIns="0" rIns="0" bIns="0" rtlCol="0" anchor="ctr"/>
          <a:lstStyle/>
          <a:p>
            <a:pPr marL="0" indent="0">
              <a:buNone/>
            </a:pPr>
            <a:r>
              <a:rPr lang="en-US" sz="1600" dirty="0">
                <a:solidFill>
                  <a:srgbClr val="1A1A2E"/>
                </a:solidFill>
                <a:latin typeface="Calibri" pitchFamily="34" charset="0"/>
                <a:ea typeface="Calibri" pitchFamily="34" charset="-122"/>
                <a:cs typeface="Calibri" pitchFamily="34" charset="-120"/>
              </a:rPr>
              <a:t>“Who receives the output of this, and what do they do with it next?” - surfaces the downstream consumer</a:t>
            </a:r>
            <a:endParaRPr lang="en-US" sz="1600" dirty="0"/>
          </a:p>
        </p:txBody>
      </p:sp>
      <p:sp>
        <p:nvSpPr>
          <p:cNvPr id="13" name="Shape 11"/>
          <p:cNvSpPr/>
          <p:nvPr/>
        </p:nvSpPr>
        <p:spPr>
          <a:xfrm>
            <a:off x="548640" y="5623560"/>
            <a:ext cx="11064240" cy="777240"/>
          </a:xfrm>
          <a:prstGeom prst="roundRect">
            <a:avLst>
              <a:gd name="adj" fmla="val 9412"/>
            </a:avLst>
          </a:prstGeom>
          <a:solidFill>
            <a:srgbClr val="F4F6FC"/>
          </a:solidFill>
          <a:ln/>
        </p:spPr>
        <p:txBody>
          <a:bodyPr/>
          <a:lstStyle/>
          <a:p>
            <a:endParaRPr lang="en-GB"/>
          </a:p>
        </p:txBody>
      </p:sp>
      <p:sp>
        <p:nvSpPr>
          <p:cNvPr id="14" name="Text 12"/>
          <p:cNvSpPr txBox="1"/>
          <p:nvPr/>
        </p:nvSpPr>
        <p:spPr>
          <a:xfrm>
            <a:off x="822960" y="5623560"/>
            <a:ext cx="10515600" cy="777240"/>
          </a:xfrm>
          <a:prstGeom prst="rect">
            <a:avLst/>
          </a:prstGeom>
          <a:noFill/>
          <a:ln/>
        </p:spPr>
        <p:txBody>
          <a:bodyPr wrap="square" lIns="0" tIns="0" rIns="0" bIns="0" rtlCol="0" anchor="ctr"/>
          <a:lstStyle/>
          <a:p>
            <a:pPr marL="0" indent="0">
              <a:buNone/>
            </a:pPr>
            <a:r>
              <a:rPr lang="en-US" sz="1350" i="1" dirty="0">
                <a:solidFill>
                  <a:srgbClr val="1E2761"/>
                </a:solidFill>
                <a:latin typeface="Calibri" pitchFamily="34" charset="0"/>
                <a:ea typeface="Calibri" pitchFamily="34" charset="-122"/>
                <a:cs typeface="Calibri" pitchFamily="34" charset="-120"/>
              </a:rPr>
              <a:t>A lightweight RACI for the process itself takes ~10 minutes and exposes gaps before the first workshop.</a:t>
            </a:r>
            <a:endParaRPr lang="en-US" sz="1350" dirty="0"/>
          </a:p>
        </p:txBody>
      </p:sp>
      <p:sp>
        <p:nvSpPr>
          <p:cNvPr id="15" name="Text 13"/>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16" name="Text 14"/>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47"/>
          </a:solidFill>
          <a:ln/>
        </p:spPr>
        <p:txBody>
          <a:bodyPr/>
          <a:lstStyle/>
          <a:p>
            <a:endParaRPr lang="en-GB"/>
          </a:p>
        </p:txBody>
      </p:sp>
      <p:sp>
        <p:nvSpPr>
          <p:cNvPr id="3" name="Text 1"/>
          <p:cNvSpPr txBox="1"/>
          <p:nvPr/>
        </p:nvSpPr>
        <p:spPr>
          <a:xfrm>
            <a:off x="822960" y="1463040"/>
            <a:ext cx="3200400" cy="3200400"/>
          </a:xfrm>
          <a:prstGeom prst="rect">
            <a:avLst/>
          </a:prstGeom>
          <a:noFill/>
          <a:ln/>
        </p:spPr>
        <p:txBody>
          <a:bodyPr wrap="square" lIns="0" tIns="0" rIns="0" bIns="0" rtlCol="0" anchor="ctr"/>
          <a:lstStyle/>
          <a:p>
            <a:pPr marL="0" indent="0" algn="l">
              <a:buNone/>
            </a:pPr>
            <a:r>
              <a:rPr lang="en-US" sz="22000" b="1" dirty="0">
                <a:solidFill>
                  <a:srgbClr val="1E2761"/>
                </a:solidFill>
                <a:latin typeface="Cambria" pitchFamily="34" charset="0"/>
                <a:ea typeface="Cambria" pitchFamily="34" charset="-122"/>
                <a:cs typeface="Cambria" pitchFamily="34" charset="-120"/>
              </a:rPr>
              <a:t>3</a:t>
            </a:r>
            <a:endParaRPr lang="en-US" sz="22000" dirty="0"/>
          </a:p>
        </p:txBody>
      </p:sp>
      <p:sp>
        <p:nvSpPr>
          <p:cNvPr id="4" name="Text 2"/>
          <p:cNvSpPr txBox="1"/>
          <p:nvPr/>
        </p:nvSpPr>
        <p:spPr>
          <a:xfrm>
            <a:off x="3566160" y="2651760"/>
            <a:ext cx="7863840" cy="146304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Staying Tech-Agnostic</a:t>
            </a:r>
            <a:endParaRPr lang="en-US" sz="4000" dirty="0"/>
          </a:p>
        </p:txBody>
      </p:sp>
      <p:sp>
        <p:nvSpPr>
          <p:cNvPr id="5" name="Text 3"/>
          <p:cNvSpPr txBox="1"/>
          <p:nvPr/>
        </p:nvSpPr>
        <p:spPr>
          <a:xfrm>
            <a:off x="3566160" y="3931920"/>
            <a:ext cx="7863840" cy="731520"/>
          </a:xfrm>
          <a:prstGeom prst="rect">
            <a:avLst/>
          </a:prstGeom>
          <a:noFill/>
          <a:ln/>
        </p:spPr>
        <p:txBody>
          <a:bodyPr wrap="square" lIns="0" tIns="0" rIns="0" bIns="0" rtlCol="0" anchor="t"/>
          <a:lstStyle/>
          <a:p>
            <a:pPr marL="0" indent="0" algn="l">
              <a:buNone/>
            </a:pPr>
            <a:r>
              <a:rPr lang="en-US" sz="1600" i="1" dirty="0">
                <a:solidFill>
                  <a:srgbClr val="CADCFC"/>
                </a:solidFill>
                <a:latin typeface="Calibri" pitchFamily="34" charset="0"/>
                <a:ea typeface="Calibri" pitchFamily="34" charset="-122"/>
                <a:cs typeface="Calibri" pitchFamily="34" charset="-120"/>
              </a:rPr>
              <a:t>“Well, we fill out this Google Form.”</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SECTION 3 - TECHNIQUE</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banned-words opener</a:t>
            </a:r>
            <a:endParaRPr lang="en-US" sz="3000" dirty="0"/>
          </a:p>
        </p:txBody>
      </p:sp>
      <p:sp>
        <p:nvSpPr>
          <p:cNvPr id="4" name="Shape 2"/>
          <p:cNvSpPr/>
          <p:nvPr/>
        </p:nvSpPr>
        <p:spPr>
          <a:xfrm>
            <a:off x="548640" y="1691640"/>
            <a:ext cx="6766560" cy="4297680"/>
          </a:xfrm>
          <a:prstGeom prst="roundRect">
            <a:avLst>
              <a:gd name="adj" fmla="val 2553"/>
            </a:avLst>
          </a:prstGeom>
          <a:solidFill>
            <a:srgbClr val="1E2761"/>
          </a:solidFill>
          <a:ln/>
        </p:spPr>
        <p:txBody>
          <a:bodyPr/>
          <a:lstStyle/>
          <a:p>
            <a:endParaRPr lang="en-GB"/>
          </a:p>
        </p:txBody>
      </p:sp>
      <p:sp>
        <p:nvSpPr>
          <p:cNvPr id="5" name="Text 3"/>
          <p:cNvSpPr txBox="1"/>
          <p:nvPr/>
        </p:nvSpPr>
        <p:spPr>
          <a:xfrm>
            <a:off x="868680" y="1965960"/>
            <a:ext cx="6126480" cy="45720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Say this before you ask a single question:</a:t>
            </a:r>
            <a:endParaRPr lang="en-US" sz="1400" dirty="0"/>
          </a:p>
        </p:txBody>
      </p:sp>
      <p:sp>
        <p:nvSpPr>
          <p:cNvPr id="6" name="Text 4"/>
          <p:cNvSpPr txBox="1"/>
          <p:nvPr/>
        </p:nvSpPr>
        <p:spPr>
          <a:xfrm>
            <a:off x="868680" y="2468880"/>
            <a:ext cx="6126480" cy="1920240"/>
          </a:xfrm>
          <a:prstGeom prst="rect">
            <a:avLst/>
          </a:prstGeom>
          <a:noFill/>
          <a:ln/>
        </p:spPr>
        <p:txBody>
          <a:bodyPr wrap="square" lIns="0" tIns="0" rIns="0" bIns="0" rtlCol="0" anchor="t"/>
          <a:lstStyle/>
          <a:p>
            <a:pPr marL="0" indent="0">
              <a:buNone/>
            </a:pPr>
            <a:r>
              <a:rPr lang="en-US" sz="1900" b="1" i="1" dirty="0">
                <a:solidFill>
                  <a:srgbClr val="FFFFFF"/>
                </a:solidFill>
                <a:latin typeface="Cambria" pitchFamily="34" charset="0"/>
                <a:ea typeface="Cambria" pitchFamily="34" charset="-122"/>
                <a:cs typeface="Cambria" pitchFamily="34" charset="-120"/>
              </a:rPr>
              <a:t>“Forget your existing process and the tools you use. Let's think about what this looks like in an ideal scenario. Banned words today: Microsoft, Google, App, Button, Form.”</a:t>
            </a:r>
            <a:endParaRPr lang="en-US" sz="1900" dirty="0"/>
          </a:p>
        </p:txBody>
      </p:sp>
      <p:sp>
        <p:nvSpPr>
          <p:cNvPr id="7" name="Text 5"/>
          <p:cNvSpPr txBox="1"/>
          <p:nvPr/>
        </p:nvSpPr>
        <p:spPr>
          <a:xfrm>
            <a:off x="868680" y="4572000"/>
            <a:ext cx="6126480" cy="1280160"/>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Warm the room up first with a genuinely unconstrained example - “seats on the wings of the plane” works well - before pointing that same freedom at their process.</a:t>
            </a:r>
            <a:endParaRPr lang="en-US" sz="1300" dirty="0"/>
          </a:p>
        </p:txBody>
      </p:sp>
      <p:sp>
        <p:nvSpPr>
          <p:cNvPr id="8" name="Shape 6"/>
          <p:cNvSpPr/>
          <p:nvPr/>
        </p:nvSpPr>
        <p:spPr>
          <a:xfrm>
            <a:off x="7543800" y="1691640"/>
            <a:ext cx="4114800" cy="4297680"/>
          </a:xfrm>
          <a:prstGeom prst="roundRect">
            <a:avLst>
              <a:gd name="adj" fmla="val 2667"/>
            </a:avLst>
          </a:prstGeom>
          <a:solidFill>
            <a:srgbClr val="F4F6FC"/>
          </a:solidFill>
          <a:ln/>
        </p:spPr>
        <p:txBody>
          <a:bodyPr/>
          <a:lstStyle/>
          <a:p>
            <a:endParaRPr lang="en-GB"/>
          </a:p>
        </p:txBody>
      </p:sp>
      <p:sp>
        <p:nvSpPr>
          <p:cNvPr id="9" name="Text 7"/>
          <p:cNvSpPr txBox="1"/>
          <p:nvPr/>
        </p:nvSpPr>
        <p:spPr>
          <a:xfrm>
            <a:off x="7818120" y="1965960"/>
            <a:ext cx="3566160" cy="45720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Too gimmicky for the room?</a:t>
            </a:r>
            <a:endParaRPr lang="en-US" sz="1500" dirty="0"/>
          </a:p>
        </p:txBody>
      </p:sp>
      <p:sp>
        <p:nvSpPr>
          <p:cNvPr id="10" name="Text 8"/>
          <p:cNvSpPr txBox="1"/>
          <p:nvPr/>
        </p:nvSpPr>
        <p:spPr>
          <a:xfrm>
            <a:off x="7818120" y="2468880"/>
            <a:ext cx="3566160" cy="3383280"/>
          </a:xfrm>
          <a:prstGeom prst="rect">
            <a:avLst/>
          </a:prstGeom>
          <a:noFill/>
          <a:ln/>
        </p:spPr>
        <p:txBody>
          <a:bodyPr wrap="square" lIns="0" tIns="0" rIns="0" bIns="0" rtlCol="0" anchor="t"/>
          <a:lstStyle/>
          <a:p>
            <a:pPr marL="0" indent="0">
              <a:buNone/>
            </a:pPr>
            <a:r>
              <a:rPr lang="en-US" sz="1300" dirty="0">
                <a:solidFill>
                  <a:srgbClr val="1A1A2E"/>
                </a:solidFill>
                <a:latin typeface="Calibri" pitchFamily="34" charset="0"/>
                <a:ea typeface="Calibri" pitchFamily="34" charset="-122"/>
                <a:cs typeface="Calibri" pitchFamily="34" charset="-120"/>
              </a:rPr>
              <a:t>Say it plainly instead:</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“I need this explained with no reference to a system - no buttons, no fields, no pages. Just what happens, and why.”</a:t>
            </a:r>
            <a:endParaRPr lang="en-US" sz="1300" dirty="0"/>
          </a:p>
          <a:p>
            <a:pPr marL="0" indent="0">
              <a:buNone/>
            </a:pP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Same effect, different delivery.</a:t>
            </a:r>
            <a:endParaRPr lang="en-US" sz="1300" dirty="0"/>
          </a:p>
        </p:txBody>
      </p:sp>
      <p:sp>
        <p:nvSpPr>
          <p:cNvPr id="11" name="Text 9"/>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12" name="Text 10"/>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SECTION 3 - IN THE ROOM</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Redirecting a solution-shaped answer, live</a:t>
            </a:r>
            <a:endParaRPr lang="en-US" sz="3000" dirty="0"/>
          </a:p>
        </p:txBody>
      </p:sp>
      <p:sp>
        <p:nvSpPr>
          <p:cNvPr id="4" name="Shape 2"/>
          <p:cNvSpPr/>
          <p:nvPr/>
        </p:nvSpPr>
        <p:spPr>
          <a:xfrm>
            <a:off x="548640" y="1783080"/>
            <a:ext cx="548640" cy="548640"/>
          </a:xfrm>
          <a:prstGeom prst="ellipse">
            <a:avLst/>
          </a:prstGeom>
          <a:solidFill>
            <a:srgbClr val="1E2761"/>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619963" y="1854403"/>
            <a:ext cx="405994" cy="405994"/>
          </a:xfrm>
          <a:prstGeom prst="rect">
            <a:avLst/>
          </a:prstGeom>
        </p:spPr>
      </p:pic>
      <p:sp>
        <p:nvSpPr>
          <p:cNvPr id="6" name="Text 3"/>
          <p:cNvSpPr txBox="1"/>
          <p:nvPr/>
        </p:nvSpPr>
        <p:spPr>
          <a:xfrm>
            <a:off x="1280160" y="1828800"/>
            <a:ext cx="7315200" cy="45720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The exchange to have ready, near verbatim:</a:t>
            </a:r>
            <a:endParaRPr lang="en-US" sz="1600" dirty="0"/>
          </a:p>
        </p:txBody>
      </p:sp>
      <p:sp>
        <p:nvSpPr>
          <p:cNvPr id="7" name="Text 4"/>
          <p:cNvSpPr txBox="1"/>
          <p:nvPr/>
        </p:nvSpPr>
        <p:spPr>
          <a:xfrm>
            <a:off x="548640" y="2514600"/>
            <a:ext cx="1005840" cy="365760"/>
          </a:xfrm>
          <a:prstGeom prst="rect">
            <a:avLst/>
          </a:prstGeom>
          <a:noFill/>
          <a:ln/>
        </p:spPr>
        <p:txBody>
          <a:bodyPr wrap="square" lIns="0" tIns="0" rIns="0" bIns="0" rtlCol="0" anchor="t"/>
          <a:lstStyle/>
          <a:p>
            <a:pPr marL="0" indent="0">
              <a:buNone/>
            </a:pPr>
            <a:r>
              <a:rPr lang="en-US" sz="1400" b="1" dirty="0">
                <a:solidFill>
                  <a:srgbClr val="B8790E"/>
                </a:solidFill>
                <a:latin typeface="Cambria" pitchFamily="34" charset="0"/>
                <a:ea typeface="Cambria" pitchFamily="34" charset="-122"/>
                <a:cs typeface="Cambria" pitchFamily="34" charset="-120"/>
              </a:rPr>
              <a:t>You:</a:t>
            </a:r>
            <a:endParaRPr lang="en-US" sz="1400" dirty="0"/>
          </a:p>
        </p:txBody>
      </p:sp>
      <p:sp>
        <p:nvSpPr>
          <p:cNvPr id="8" name="Text 5"/>
          <p:cNvSpPr txBox="1"/>
          <p:nvPr/>
        </p:nvSpPr>
        <p:spPr>
          <a:xfrm>
            <a:off x="1600200" y="2514600"/>
            <a:ext cx="9966960" cy="868680"/>
          </a:xfrm>
          <a:prstGeom prst="rect">
            <a:avLst/>
          </a:prstGeom>
          <a:noFill/>
          <a:ln/>
        </p:spPr>
        <p:txBody>
          <a:bodyPr wrap="square" lIns="0" tIns="0" rIns="0" bIns="0" rtlCol="0" anchor="t"/>
          <a:lstStyle/>
          <a:p>
            <a:pPr marL="0" indent="0">
              <a:buNone/>
            </a:pPr>
            <a:r>
              <a:rPr lang="en-US" sz="1500" i="1" dirty="0">
                <a:solidFill>
                  <a:srgbClr val="1A1A2E"/>
                </a:solidFill>
                <a:latin typeface="Calibri" pitchFamily="34" charset="0"/>
                <a:ea typeface="Calibri" pitchFamily="34" charset="-122"/>
                <a:cs typeface="Calibri" pitchFamily="34" charset="-120"/>
              </a:rPr>
              <a:t>“Remember, the point of this exercise is to figure out what you were actually automating in the first place. So - what's the first step you take?”</a:t>
            </a:r>
            <a:endParaRPr lang="en-US" sz="1500" dirty="0"/>
          </a:p>
        </p:txBody>
      </p:sp>
      <p:sp>
        <p:nvSpPr>
          <p:cNvPr id="9" name="Text 6"/>
          <p:cNvSpPr txBox="1"/>
          <p:nvPr/>
        </p:nvSpPr>
        <p:spPr>
          <a:xfrm>
            <a:off x="548640" y="3566160"/>
            <a:ext cx="1005840" cy="365760"/>
          </a:xfrm>
          <a:prstGeom prst="rect">
            <a:avLst/>
          </a:prstGeom>
          <a:noFill/>
          <a:ln/>
        </p:spPr>
        <p:txBody>
          <a:bodyPr wrap="square" lIns="0" tIns="0" rIns="0" bIns="0" rtlCol="0" anchor="t"/>
          <a:lstStyle/>
          <a:p>
            <a:pPr marL="0" indent="0">
              <a:buNone/>
            </a:pPr>
            <a:r>
              <a:rPr lang="en-US" sz="1400" b="1" dirty="0">
                <a:solidFill>
                  <a:srgbClr val="5A6280"/>
                </a:solidFill>
                <a:latin typeface="Cambria" pitchFamily="34" charset="0"/>
                <a:ea typeface="Cambria" pitchFamily="34" charset="-122"/>
                <a:cs typeface="Cambria" pitchFamily="34" charset="-120"/>
              </a:rPr>
              <a:t>Them:</a:t>
            </a:r>
            <a:endParaRPr lang="en-US" sz="1400" dirty="0"/>
          </a:p>
        </p:txBody>
      </p:sp>
      <p:sp>
        <p:nvSpPr>
          <p:cNvPr id="10" name="Text 7"/>
          <p:cNvSpPr txBox="1"/>
          <p:nvPr/>
        </p:nvSpPr>
        <p:spPr>
          <a:xfrm>
            <a:off x="1600200" y="3566160"/>
            <a:ext cx="9966960" cy="868680"/>
          </a:xfrm>
          <a:prstGeom prst="rect">
            <a:avLst/>
          </a:prstGeom>
          <a:noFill/>
          <a:ln/>
        </p:spPr>
        <p:txBody>
          <a:bodyPr wrap="square" lIns="0" tIns="0" rIns="0" bIns="0" rtlCol="0" anchor="t"/>
          <a:lstStyle/>
          <a:p>
            <a:pPr marL="0" indent="0">
              <a:buNone/>
            </a:pPr>
            <a:r>
              <a:rPr lang="en-US" sz="1500" dirty="0">
                <a:solidFill>
                  <a:srgbClr val="1A1A2E"/>
                </a:solidFill>
                <a:latin typeface="Calibri" pitchFamily="34" charset="0"/>
                <a:ea typeface="Calibri" pitchFamily="34" charset="-122"/>
                <a:cs typeface="Calibri" pitchFamily="34" charset="-120"/>
              </a:rPr>
              <a:t>“Well, we fill out this Google Form.”</a:t>
            </a:r>
            <a:endParaRPr lang="en-US" sz="1500" dirty="0"/>
          </a:p>
        </p:txBody>
      </p:sp>
      <p:sp>
        <p:nvSpPr>
          <p:cNvPr id="11" name="Text 8"/>
          <p:cNvSpPr txBox="1"/>
          <p:nvPr/>
        </p:nvSpPr>
        <p:spPr>
          <a:xfrm>
            <a:off x="548640" y="4617720"/>
            <a:ext cx="1005840" cy="365760"/>
          </a:xfrm>
          <a:prstGeom prst="rect">
            <a:avLst/>
          </a:prstGeom>
          <a:noFill/>
          <a:ln/>
        </p:spPr>
        <p:txBody>
          <a:bodyPr wrap="square" lIns="0" tIns="0" rIns="0" bIns="0" rtlCol="0" anchor="t"/>
          <a:lstStyle/>
          <a:p>
            <a:pPr marL="0" indent="0">
              <a:buNone/>
            </a:pPr>
            <a:r>
              <a:rPr lang="en-US" sz="1400" b="1" dirty="0">
                <a:solidFill>
                  <a:srgbClr val="B8790E"/>
                </a:solidFill>
                <a:latin typeface="Cambria" pitchFamily="34" charset="0"/>
                <a:ea typeface="Cambria" pitchFamily="34" charset="-122"/>
                <a:cs typeface="Cambria" pitchFamily="34" charset="-120"/>
              </a:rPr>
              <a:t>You:</a:t>
            </a:r>
            <a:endParaRPr lang="en-US" sz="1400" dirty="0"/>
          </a:p>
        </p:txBody>
      </p:sp>
      <p:sp>
        <p:nvSpPr>
          <p:cNvPr id="12" name="Text 9"/>
          <p:cNvSpPr txBox="1"/>
          <p:nvPr/>
        </p:nvSpPr>
        <p:spPr>
          <a:xfrm>
            <a:off x="1600200" y="4617720"/>
            <a:ext cx="9966960" cy="868680"/>
          </a:xfrm>
          <a:prstGeom prst="rect">
            <a:avLst/>
          </a:prstGeom>
          <a:noFill/>
          <a:ln/>
        </p:spPr>
        <p:txBody>
          <a:bodyPr wrap="square" lIns="0" tIns="0" rIns="0" bIns="0" rtlCol="0" anchor="t"/>
          <a:lstStyle/>
          <a:p>
            <a:pPr marL="0" indent="0">
              <a:buNone/>
            </a:pPr>
            <a:r>
              <a:rPr lang="en-US" sz="1500" i="1" dirty="0">
                <a:solidFill>
                  <a:srgbClr val="1A1A2E"/>
                </a:solidFill>
                <a:latin typeface="Calibri" pitchFamily="34" charset="0"/>
                <a:ea typeface="Calibri" pitchFamily="34" charset="-122"/>
                <a:cs typeface="Calibri" pitchFamily="34" charset="-120"/>
              </a:rPr>
              <a:t>“Before the form - what are you capturing there, and why does it matter to the next person in the chain?”</a:t>
            </a:r>
            <a:endParaRPr lang="en-US" sz="1500" dirty="0"/>
          </a:p>
        </p:txBody>
      </p:sp>
      <p:sp>
        <p:nvSpPr>
          <p:cNvPr id="13" name="Text 10"/>
          <p:cNvSpPr txBox="1"/>
          <p:nvPr/>
        </p:nvSpPr>
        <p:spPr>
          <a:xfrm>
            <a:off x="548640" y="5806440"/>
            <a:ext cx="11064240" cy="640080"/>
          </a:xfrm>
          <a:prstGeom prst="rect">
            <a:avLst/>
          </a:prstGeom>
          <a:noFill/>
          <a:ln/>
        </p:spPr>
        <p:txBody>
          <a:bodyPr wrap="square" lIns="0" tIns="0" rIns="0" bIns="0" rtlCol="0" anchor="t"/>
          <a:lstStyle/>
          <a:p>
            <a:pPr marL="0" indent="0">
              <a:buNone/>
            </a:pPr>
            <a:r>
              <a:rPr lang="en-US" sz="1250" i="1" dirty="0">
                <a:solidFill>
                  <a:srgbClr val="5A6280"/>
                </a:solidFill>
                <a:latin typeface="Calibri" pitchFamily="34" charset="0"/>
                <a:ea typeface="Calibri" pitchFamily="34" charset="-122"/>
                <a:cs typeface="Calibri" pitchFamily="34" charset="-120"/>
              </a:rPr>
              <a:t>Other reframes: “When you say 'app', what would it need to do for you to call it a success?”  •  “What's driving that idea - what's not working today?”</a:t>
            </a:r>
            <a:endParaRPr lang="en-US" sz="1250" dirty="0"/>
          </a:p>
        </p:txBody>
      </p:sp>
      <p:sp>
        <p:nvSpPr>
          <p:cNvPr id="14" name="Text 11"/>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15" name="Text 12"/>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47"/>
          </a:solidFill>
          <a:ln/>
        </p:spPr>
        <p:txBody>
          <a:bodyPr/>
          <a:lstStyle/>
          <a:p>
            <a:endParaRPr lang="en-GB"/>
          </a:p>
        </p:txBody>
      </p:sp>
      <p:sp>
        <p:nvSpPr>
          <p:cNvPr id="3" name="Text 1"/>
          <p:cNvSpPr txBox="1"/>
          <p:nvPr/>
        </p:nvSpPr>
        <p:spPr>
          <a:xfrm>
            <a:off x="822960" y="1463040"/>
            <a:ext cx="3200400" cy="3200400"/>
          </a:xfrm>
          <a:prstGeom prst="rect">
            <a:avLst/>
          </a:prstGeom>
          <a:noFill/>
          <a:ln/>
        </p:spPr>
        <p:txBody>
          <a:bodyPr wrap="square" lIns="0" tIns="0" rIns="0" bIns="0" rtlCol="0" anchor="ctr"/>
          <a:lstStyle/>
          <a:p>
            <a:pPr marL="0" indent="0" algn="l">
              <a:buNone/>
            </a:pPr>
            <a:r>
              <a:rPr lang="en-US" sz="22000" b="1" dirty="0">
                <a:solidFill>
                  <a:srgbClr val="1E2761"/>
                </a:solidFill>
                <a:latin typeface="Cambria" pitchFamily="34" charset="0"/>
                <a:ea typeface="Cambria" pitchFamily="34" charset="-122"/>
                <a:cs typeface="Cambria" pitchFamily="34" charset="-120"/>
              </a:rPr>
              <a:t>4</a:t>
            </a:r>
            <a:endParaRPr lang="en-US" sz="22000" dirty="0"/>
          </a:p>
        </p:txBody>
      </p:sp>
      <p:sp>
        <p:nvSpPr>
          <p:cNvPr id="4" name="Text 2"/>
          <p:cNvSpPr txBox="1"/>
          <p:nvPr/>
        </p:nvSpPr>
        <p:spPr>
          <a:xfrm>
            <a:off x="3566160" y="2651760"/>
            <a:ext cx="7863840" cy="146304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Prioritisation</a:t>
            </a:r>
            <a:endParaRPr lang="en-US" sz="4000" dirty="0"/>
          </a:p>
        </p:txBody>
      </p:sp>
      <p:sp>
        <p:nvSpPr>
          <p:cNvPr id="5" name="Text 3"/>
          <p:cNvSpPr txBox="1"/>
          <p:nvPr/>
        </p:nvSpPr>
        <p:spPr>
          <a:xfrm>
            <a:off x="3566160" y="3931920"/>
            <a:ext cx="7863840" cy="731520"/>
          </a:xfrm>
          <a:prstGeom prst="rect">
            <a:avLst/>
          </a:prstGeom>
          <a:noFill/>
          <a:ln/>
        </p:spPr>
        <p:txBody>
          <a:bodyPr wrap="square" lIns="0" tIns="0" rIns="0" bIns="0" rtlCol="0" anchor="t"/>
          <a:lstStyle/>
          <a:p>
            <a:pPr marL="0" indent="0" algn="l">
              <a:buNone/>
            </a:pPr>
            <a:r>
              <a:rPr lang="en-US" sz="1600" i="1" dirty="0">
                <a:solidFill>
                  <a:srgbClr val="CADCFC"/>
                </a:solidFill>
                <a:latin typeface="Calibri" pitchFamily="34" charset="0"/>
                <a:ea typeface="Calibri" pitchFamily="34" charset="-122"/>
                <a:cs typeface="Calibri" pitchFamily="34" charset="-120"/>
              </a:rPr>
              <a:t>You can't rank what you can't yet measure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SECTION 4</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Articulating the process is the prerequisite</a:t>
            </a:r>
            <a:endParaRPr lang="en-US" sz="3000" dirty="0"/>
          </a:p>
        </p:txBody>
      </p:sp>
      <p:sp>
        <p:nvSpPr>
          <p:cNvPr id="4" name="Shape 2"/>
          <p:cNvSpPr/>
          <p:nvPr/>
        </p:nvSpPr>
        <p:spPr>
          <a:xfrm>
            <a:off x="548640" y="1828800"/>
            <a:ext cx="822960" cy="822960"/>
          </a:xfrm>
          <a:prstGeom prst="ellipse">
            <a:avLst/>
          </a:prstGeom>
          <a:solidFill>
            <a:srgbClr val="1E2761"/>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655625" y="1935785"/>
            <a:ext cx="608990" cy="608990"/>
          </a:xfrm>
          <a:prstGeom prst="rect">
            <a:avLst/>
          </a:prstGeom>
        </p:spPr>
      </p:pic>
      <p:sp>
        <p:nvSpPr>
          <p:cNvPr id="6" name="Text 3"/>
          <p:cNvSpPr txBox="1"/>
          <p:nvPr/>
        </p:nvSpPr>
        <p:spPr>
          <a:xfrm>
            <a:off x="1600200" y="1828800"/>
            <a:ext cx="9144000" cy="548640"/>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No process, no ROI number.</a:t>
            </a:r>
            <a:endParaRPr lang="en-US" sz="2200" dirty="0"/>
          </a:p>
        </p:txBody>
      </p:sp>
      <p:sp>
        <p:nvSpPr>
          <p:cNvPr id="7" name="Text 4"/>
          <p:cNvSpPr txBox="1"/>
          <p:nvPr/>
        </p:nvSpPr>
        <p:spPr>
          <a:xfrm>
            <a:off x="1600200" y="2423160"/>
            <a:ext cx="9509760" cy="1005840"/>
          </a:xfrm>
          <a:prstGeom prst="rect">
            <a:avLst/>
          </a:prstGeom>
          <a:noFill/>
          <a:ln/>
        </p:spPr>
        <p:txBody>
          <a:bodyPr wrap="square" lIns="0" tIns="0" rIns="0" bIns="0" rtlCol="0" anchor="t"/>
          <a:lstStyle/>
          <a:p>
            <a:pPr marL="0" indent="0">
              <a:buNone/>
            </a:pPr>
            <a:r>
              <a:rPr lang="en-US" sz="1500" dirty="0">
                <a:solidFill>
                  <a:srgbClr val="1A1A2E"/>
                </a:solidFill>
                <a:latin typeface="Calibri" pitchFamily="34" charset="0"/>
                <a:ea typeface="Calibri" pitchFamily="34" charset="-122"/>
                <a:cs typeface="Calibri" pitchFamily="34" charset="-120"/>
              </a:rPr>
              <a:t>You can't prioritise against ROI or time saved if nobody can state the current-state process well enough to know what the “before” number even is.</a:t>
            </a:r>
            <a:endParaRPr lang="en-US" sz="1500" dirty="0"/>
          </a:p>
        </p:txBody>
      </p:sp>
      <p:sp>
        <p:nvSpPr>
          <p:cNvPr id="8" name="Shape 5"/>
          <p:cNvSpPr/>
          <p:nvPr/>
        </p:nvSpPr>
        <p:spPr>
          <a:xfrm>
            <a:off x="548640" y="3749040"/>
            <a:ext cx="11064240" cy="2194560"/>
          </a:xfrm>
          <a:prstGeom prst="roundRect">
            <a:avLst>
              <a:gd name="adj" fmla="val 4167"/>
            </a:avLst>
          </a:prstGeom>
          <a:solidFill>
            <a:srgbClr val="F4F6FC"/>
          </a:solidFill>
          <a:ln/>
        </p:spPr>
        <p:txBody>
          <a:bodyPr/>
          <a:lstStyle/>
          <a:p>
            <a:endParaRPr lang="en-GB"/>
          </a:p>
        </p:txBody>
      </p:sp>
      <p:sp>
        <p:nvSpPr>
          <p:cNvPr id="9" name="Text 6"/>
          <p:cNvSpPr txBox="1"/>
          <p:nvPr/>
        </p:nvSpPr>
        <p:spPr>
          <a:xfrm>
            <a:off x="868680" y="3931920"/>
            <a:ext cx="10515600" cy="1828800"/>
          </a:xfrm>
          <a:prstGeom prst="rect">
            <a:avLst/>
          </a:prstGeom>
          <a:noFill/>
          <a:ln/>
        </p:spPr>
        <p:txBody>
          <a:bodyPr wrap="square" lIns="0" tIns="0" rIns="0" bIns="0" rtlCol="0" anchor="ctr"/>
          <a:lstStyle/>
          <a:p>
            <a:pPr marL="0" indent="0">
              <a:buNone/>
            </a:pPr>
            <a:r>
              <a:rPr lang="en-US" sz="1450" i="1" dirty="0">
                <a:solidFill>
                  <a:srgbClr val="1E2761"/>
                </a:solidFill>
                <a:latin typeface="Calibri" pitchFamily="34" charset="0"/>
                <a:ea typeface="Calibri" pitchFamily="34" charset="-122"/>
                <a:cs typeface="Calibri" pitchFamily="34" charset="-120"/>
              </a:rPr>
              <a:t>Some organisations formalise this: if the business unit can't articulate its process, the initiative doesn't get prioritised - it sits in the backlog until they can. It's an acknowledgement that prioritising before Section 1 is done is just people guessing.</a:t>
            </a:r>
            <a:endParaRPr lang="en-US" sz="1450" dirty="0"/>
          </a:p>
        </p:txBody>
      </p:sp>
      <p:sp>
        <p:nvSpPr>
          <p:cNvPr id="10" name="Text 7"/>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11" name="Text 8"/>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SECTION 4</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Structuring competing requirements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2926080"/>
        </p:xfrm>
        <a:graphic>
          <a:graphicData uri="http://schemas.openxmlformats.org/drawingml/2006/table">
            <a:tbl>
              <a:tblPr/>
              <a:tblGrid>
                <a:gridCol w="164592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731520">
                <a:tc>
                  <a:txBody>
                    <a:bodyPr/>
                    <a:lstStyle/>
                    <a:p>
                      <a:pPr marL="0" indent="0">
                        <a:buNone/>
                      </a:pPr>
                      <a:r>
                        <a:rPr lang="en-US" sz="1300" b="1" dirty="0">
                          <a:solidFill>
                            <a:srgbClr val="FFFFFF"/>
                          </a:solidFill>
                        </a:rPr>
                        <a:t>Framework</a:t>
                      </a:r>
                      <a:endParaRPr lang="en-US" sz="130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Best for</a:t>
                      </a:r>
                      <a:endParaRPr lang="en-US" sz="130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Watch out for</a:t>
                      </a:r>
                      <a:endParaRPr lang="en-US" sz="130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31520">
                <a:tc>
                  <a:txBody>
                    <a:bodyPr/>
                    <a:lstStyle/>
                    <a:p>
                      <a:pPr marL="0" indent="0">
                        <a:buNone/>
                      </a:pPr>
                      <a:r>
                        <a:rPr lang="en-US" sz="1300" b="1" dirty="0">
                          <a:solidFill>
                            <a:srgbClr val="1E2761"/>
                          </a:solidFill>
                        </a:rPr>
                        <a:t>MoSCoW</a:t>
                      </a:r>
                      <a:endParaRPr lang="en-US" sz="130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tcPr>
                </a:tc>
                <a:tc>
                  <a:txBody>
                    <a:bodyPr/>
                    <a:lstStyle/>
                    <a:p>
                      <a:pPr marL="0" indent="0">
                        <a:buNone/>
                      </a:pPr>
                      <a:r>
                        <a:rPr lang="en-US" sz="1250" dirty="0">
                          <a:solidFill>
                            <a:srgbClr val="1A1A2E"/>
                          </a:solidFill>
                        </a:rPr>
                        <a:t>Structuring a live workshop fast; a single delivery phase</a:t>
                      </a:r>
                      <a:endParaRPr lang="en-US" sz="125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tcPr>
                </a:tc>
                <a:tc>
                  <a:txBody>
                    <a:bodyPr/>
                    <a:lstStyle/>
                    <a:p>
                      <a:pPr marL="0" indent="0">
                        <a:buNone/>
                      </a:pPr>
                      <a:r>
                        <a:rPr lang="en-US" sz="1250" dirty="0">
                          <a:solidFill>
                            <a:srgbClr val="5A6280"/>
                          </a:solidFill>
                        </a:rPr>
                        <a:t>Weak at ranking within “Must”</a:t>
                      </a:r>
                      <a:endParaRPr lang="en-US" sz="125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300" b="1" dirty="0">
                          <a:solidFill>
                            <a:srgbClr val="1E2761"/>
                          </a:solidFill>
                        </a:rPr>
                        <a:t>RICE</a:t>
                      </a:r>
                      <a:endParaRPr lang="en-US" sz="130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tcPr>
                </a:tc>
                <a:tc>
                  <a:txBody>
                    <a:bodyPr/>
                    <a:lstStyle/>
                    <a:p>
                      <a:pPr marL="0" indent="0">
                        <a:buNone/>
                      </a:pPr>
                      <a:r>
                        <a:rPr lang="en-US" sz="1250" dirty="0">
                          <a:solidFill>
                            <a:srgbClr val="1A1A2E"/>
                          </a:solidFill>
                        </a:rPr>
                        <a:t>Comparing unrelated initiatives for the same delivery capacity</a:t>
                      </a:r>
                      <a:endParaRPr lang="en-US" sz="125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tcPr>
                </a:tc>
                <a:tc>
                  <a:txBody>
                    <a:bodyPr/>
                    <a:lstStyle/>
                    <a:p>
                      <a:pPr marL="0" indent="0">
                        <a:buNone/>
                      </a:pPr>
                      <a:r>
                        <a:rPr lang="en-US" sz="1250" dirty="0">
                          <a:solidFill>
                            <a:srgbClr val="5A6280"/>
                          </a:solidFill>
                        </a:rPr>
                        <a:t>Needs numbers people can defend, or it's theatre</a:t>
                      </a:r>
                      <a:endParaRPr lang="en-US" sz="125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300" b="1" dirty="0">
                          <a:solidFill>
                            <a:srgbClr val="1E2761"/>
                          </a:solidFill>
                        </a:rPr>
                        <a:t>Kano</a:t>
                      </a:r>
                      <a:endParaRPr lang="en-US" sz="130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tcPr>
                </a:tc>
                <a:tc>
                  <a:txBody>
                    <a:bodyPr/>
                    <a:lstStyle/>
                    <a:p>
                      <a:pPr marL="0" indent="0">
                        <a:buNone/>
                      </a:pPr>
                      <a:r>
                        <a:rPr lang="en-US" sz="1250" dirty="0">
                          <a:solidFill>
                            <a:srgbClr val="1A1A2E"/>
                          </a:solidFill>
                        </a:rPr>
                        <a:t>Separating table-stakes work from what will delight the sponsor</a:t>
                      </a:r>
                      <a:endParaRPr lang="en-US" sz="125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tcPr>
                </a:tc>
                <a:tc>
                  <a:txBody>
                    <a:bodyPr/>
                    <a:lstStyle/>
                    <a:p>
                      <a:pPr marL="0" indent="0">
                        <a:buNone/>
                      </a:pPr>
                      <a:r>
                        <a:rPr lang="en-US" sz="1250" dirty="0">
                          <a:solidFill>
                            <a:srgbClr val="5A6280"/>
                          </a:solidFill>
                        </a:rPr>
                        <a:t>Slower to run properly; needs real user input</a:t>
                      </a:r>
                      <a:endParaRPr lang="en-US" sz="1250" dirty="0"/>
                    </a:p>
                  </a:txBody>
                  <a:tcPr marL="127000" marR="127000" marT="76200" marB="76200" anchor="ctr">
                    <a:lnL w="12700" cap="flat" cmpd="sng" algn="ctr">
                      <a:solidFill>
                        <a:srgbClr val="E3E7F2"/>
                      </a:solidFill>
                      <a:prstDash val="solid"/>
                      <a:round/>
                      <a:headEnd type="none" w="med" len="med"/>
                      <a:tailEnd type="none" w="med" len="med"/>
                    </a:lnL>
                    <a:lnR w="12700" cap="flat" cmpd="sng" algn="ctr">
                      <a:solidFill>
                        <a:srgbClr val="E3E7F2"/>
                      </a:solidFill>
                      <a:prstDash val="solid"/>
                      <a:round/>
                      <a:headEnd type="none" w="med" len="med"/>
                      <a:tailEnd type="none" w="med" len="med"/>
                    </a:lnR>
                    <a:lnT w="12700" cap="flat" cmpd="sng" algn="ctr">
                      <a:solidFill>
                        <a:srgbClr val="E3E7F2"/>
                      </a:solidFill>
                      <a:prstDash val="solid"/>
                      <a:round/>
                      <a:headEnd type="none" w="med" len="med"/>
                      <a:tailEnd type="none" w="med" len="med"/>
                    </a:lnT>
                    <a:lnB w="12700" cap="flat" cmpd="sng" algn="ctr">
                      <a:solidFill>
                        <a:srgbClr val="E3E7F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48640" y="4937760"/>
            <a:ext cx="11064240" cy="1005840"/>
          </a:xfrm>
          <a:prstGeom prst="roundRect">
            <a:avLst>
              <a:gd name="adj" fmla="val 7273"/>
            </a:avLst>
          </a:prstGeom>
          <a:solidFill>
            <a:srgbClr val="F4F6FC"/>
          </a:solidFill>
          <a:ln/>
        </p:spPr>
        <p:txBody>
          <a:bodyPr/>
          <a:lstStyle/>
          <a:p>
            <a:endParaRPr lang="en-GB"/>
          </a:p>
        </p:txBody>
      </p:sp>
      <p:sp>
        <p:nvSpPr>
          <p:cNvPr id="6" name="Text 3"/>
          <p:cNvSpPr txBox="1"/>
          <p:nvPr/>
        </p:nvSpPr>
        <p:spPr>
          <a:xfrm>
            <a:off x="822960" y="4937760"/>
            <a:ext cx="10515600" cy="1005840"/>
          </a:xfrm>
          <a:prstGeom prst="rect">
            <a:avLst/>
          </a:prstGeom>
          <a:noFill/>
          <a:ln/>
        </p:spPr>
        <p:txBody>
          <a:bodyPr wrap="square" lIns="0" tIns="0" rIns="0" bIns="0" rtlCol="0" anchor="ctr"/>
          <a:lstStyle/>
          <a:p>
            <a:pPr marL="0" indent="0">
              <a:buNone/>
            </a:pPr>
            <a:r>
              <a:rPr lang="en-US" sz="1400" i="1" dirty="0">
                <a:solidFill>
                  <a:srgbClr val="1E2761"/>
                </a:solidFill>
                <a:latin typeface="Calibri" pitchFamily="34" charset="0"/>
                <a:ea typeface="Calibri" pitchFamily="34" charset="-122"/>
                <a:cs typeface="Calibri" pitchFamily="34" charset="-120"/>
              </a:rPr>
              <a:t>Recommendation: MoSCoW live in the room to structure the conversation, then RICE afterwards if two “Musts” genuinely compete.</a:t>
            </a:r>
            <a:endParaRPr lang="en-US" sz="1400" dirty="0"/>
          </a:p>
        </p:txBody>
      </p:sp>
      <p:sp>
        <p:nvSpPr>
          <p:cNvPr id="7" name="Text 4"/>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8" name="Text 5"/>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SECTION 4</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Explaining trade-offs to non-technical stakeholders</a:t>
            </a:r>
            <a:endParaRPr lang="en-US" sz="3000" dirty="0"/>
          </a:p>
        </p:txBody>
      </p:sp>
      <p:sp>
        <p:nvSpPr>
          <p:cNvPr id="4" name="Shape 2"/>
          <p:cNvSpPr/>
          <p:nvPr/>
        </p:nvSpPr>
        <p:spPr>
          <a:xfrm>
            <a:off x="548640" y="1783080"/>
            <a:ext cx="548640" cy="548640"/>
          </a:xfrm>
          <a:prstGeom prst="ellipse">
            <a:avLst/>
          </a:prstGeom>
          <a:solidFill>
            <a:srgbClr val="1E2761"/>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619963" y="1854403"/>
            <a:ext cx="405994" cy="405994"/>
          </a:xfrm>
          <a:prstGeom prst="rect">
            <a:avLst/>
          </a:prstGeom>
        </p:spPr>
      </p:pic>
      <p:sp>
        <p:nvSpPr>
          <p:cNvPr id="6" name="Text 3"/>
          <p:cNvSpPr txBox="1"/>
          <p:nvPr/>
        </p:nvSpPr>
        <p:spPr>
          <a:xfrm>
            <a:off x="1280160" y="1737360"/>
            <a:ext cx="10241280" cy="685800"/>
          </a:xfrm>
          <a:prstGeom prst="rect">
            <a:avLst/>
          </a:prstGeom>
          <a:noFill/>
          <a:ln/>
        </p:spPr>
        <p:txBody>
          <a:bodyPr wrap="square" lIns="0" tIns="0" rIns="0" bIns="0" rtlCol="0" anchor="ctr"/>
          <a:lstStyle/>
          <a:p>
            <a:pPr marL="0" indent="0">
              <a:buNone/>
            </a:pPr>
            <a:r>
              <a:rPr lang="en-US" sz="1700" b="1" i="1" dirty="0">
                <a:solidFill>
                  <a:srgbClr val="1E2761"/>
                </a:solidFill>
                <a:latin typeface="Cambria" pitchFamily="34" charset="0"/>
                <a:ea typeface="Cambria" pitchFamily="34" charset="-122"/>
                <a:cs typeface="Cambria" pitchFamily="34" charset="-120"/>
              </a:rPr>
              <a:t>“We can fix the time, the scope, or the cost - not all three. Which one flexes?”</a:t>
            </a:r>
            <a:endParaRPr lang="en-US" sz="1700" dirty="0"/>
          </a:p>
        </p:txBody>
      </p:sp>
      <p:sp>
        <p:nvSpPr>
          <p:cNvPr id="7" name="Shape 4"/>
          <p:cNvSpPr/>
          <p:nvPr/>
        </p:nvSpPr>
        <p:spPr>
          <a:xfrm>
            <a:off x="548640" y="2788920"/>
            <a:ext cx="548640" cy="548640"/>
          </a:xfrm>
          <a:prstGeom prst="ellipse">
            <a:avLst/>
          </a:prstGeom>
          <a:solidFill>
            <a:srgbClr val="1E2761"/>
          </a:solidFill>
          <a:ln/>
        </p:spPr>
        <p:txBody>
          <a:bodyPr/>
          <a:lstStyle/>
          <a:p>
            <a:endParaRPr lang="en-GB"/>
          </a:p>
        </p:txBody>
      </p:sp>
      <p:pic>
        <p:nvPicPr>
          <p:cNvPr id="8" name="Image 1" descr="preencoded.png"/>
          <p:cNvPicPr>
            <a:picLocks noChangeAspect="1"/>
          </p:cNvPicPr>
          <p:nvPr/>
        </p:nvPicPr>
        <p:blipFill>
          <a:blip r:embed="rId4"/>
          <a:stretch>
            <a:fillRect/>
          </a:stretch>
        </p:blipFill>
        <p:spPr>
          <a:xfrm>
            <a:off x="619963" y="2860243"/>
            <a:ext cx="405994" cy="405994"/>
          </a:xfrm>
          <a:prstGeom prst="rect">
            <a:avLst/>
          </a:prstGeom>
        </p:spPr>
      </p:pic>
      <p:sp>
        <p:nvSpPr>
          <p:cNvPr id="9" name="Text 5"/>
          <p:cNvSpPr txBox="1"/>
          <p:nvPr/>
        </p:nvSpPr>
        <p:spPr>
          <a:xfrm>
            <a:off x="1280160" y="2743200"/>
            <a:ext cx="10241280" cy="914400"/>
          </a:xfrm>
          <a:prstGeom prst="rect">
            <a:avLst/>
          </a:prstGeom>
          <a:noFill/>
          <a:ln/>
        </p:spPr>
        <p:txBody>
          <a:bodyPr wrap="square" lIns="0" tIns="0" rIns="0" bIns="0" rtlCol="0" anchor="ctr"/>
          <a:lstStyle/>
          <a:p>
            <a:pPr marL="0" indent="0">
              <a:buNone/>
            </a:pPr>
            <a:r>
              <a:rPr lang="en-US" sz="1450" i="1" dirty="0">
                <a:solidFill>
                  <a:srgbClr val="1A1A2E"/>
                </a:solidFill>
                <a:latin typeface="Calibri" pitchFamily="34" charset="0"/>
                <a:ea typeface="Calibri" pitchFamily="34" charset="-122"/>
                <a:cs typeface="Calibri" pitchFamily="34" charset="-120"/>
              </a:rPr>
              <a:t>“Saying yes to the approval workflow now means the mobile view slips to phase two - not because it's less important, but because they need the same two developers.”</a:t>
            </a:r>
            <a:endParaRPr lang="en-US" sz="1450" dirty="0"/>
          </a:p>
        </p:txBody>
      </p:sp>
      <p:sp>
        <p:nvSpPr>
          <p:cNvPr id="10" name="Shape 6"/>
          <p:cNvSpPr/>
          <p:nvPr/>
        </p:nvSpPr>
        <p:spPr>
          <a:xfrm>
            <a:off x="548640" y="4114800"/>
            <a:ext cx="548640" cy="548640"/>
          </a:xfrm>
          <a:prstGeom prst="ellipse">
            <a:avLst/>
          </a:prstGeom>
          <a:solidFill>
            <a:srgbClr val="1E2761"/>
          </a:solidFill>
          <a:ln/>
        </p:spPr>
        <p:txBody>
          <a:bodyPr/>
          <a:lstStyle/>
          <a:p>
            <a:endParaRPr lang="en-GB"/>
          </a:p>
        </p:txBody>
      </p:sp>
      <p:pic>
        <p:nvPicPr>
          <p:cNvPr id="11" name="Image 2" descr="preencoded.png"/>
          <p:cNvPicPr>
            <a:picLocks noChangeAspect="1"/>
          </p:cNvPicPr>
          <p:nvPr/>
        </p:nvPicPr>
        <p:blipFill>
          <a:blip r:embed="rId5"/>
          <a:stretch>
            <a:fillRect/>
          </a:stretch>
        </p:blipFill>
        <p:spPr>
          <a:xfrm>
            <a:off x="619963" y="4186123"/>
            <a:ext cx="405994" cy="405994"/>
          </a:xfrm>
          <a:prstGeom prst="rect">
            <a:avLst/>
          </a:prstGeom>
        </p:spPr>
      </p:pic>
      <p:sp>
        <p:nvSpPr>
          <p:cNvPr id="12" name="Text 7"/>
          <p:cNvSpPr txBox="1"/>
          <p:nvPr/>
        </p:nvSpPr>
        <p:spPr>
          <a:xfrm>
            <a:off x="1280160" y="4069080"/>
            <a:ext cx="10241280" cy="10058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Never be the sole arbiter. Run prioritisation as a group exercise - dot-voting, forced ranking - so the decision survives the next stakeholder who complains about scope.</a:t>
            </a:r>
            <a:endParaRPr lang="en-US" sz="1450" dirty="0"/>
          </a:p>
        </p:txBody>
      </p:sp>
      <p:sp>
        <p:nvSpPr>
          <p:cNvPr id="13" name="Text 8"/>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5A6280"/>
                </a:solidFill>
                <a:latin typeface="Calibri" pitchFamily="34" charset="0"/>
                <a:ea typeface="Calibri" pitchFamily="34" charset="-122"/>
                <a:cs typeface="Calibri" pitchFamily="34" charset="-120"/>
              </a:rPr>
              <a:t>Requirements Gathering - Discovery Phase</a:t>
            </a:r>
            <a:endParaRPr lang="en-US" sz="900" dirty="0"/>
          </a:p>
        </p:txBody>
      </p:sp>
      <p:sp>
        <p:nvSpPr>
          <p:cNvPr id="14" name="Text 9"/>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A6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41A47"/>
          </a:solidFill>
          <a:ln/>
        </p:spPr>
        <p:txBody>
          <a:bodyPr/>
          <a:lstStyle/>
          <a:p>
            <a:endParaRPr lang="en-GB"/>
          </a:p>
        </p:txBody>
      </p:sp>
      <p:sp>
        <p:nvSpPr>
          <p:cNvPr id="3" name="Text 1"/>
          <p:cNvSpPr txBox="1"/>
          <p:nvPr/>
        </p:nvSpPr>
        <p:spPr>
          <a:xfrm>
            <a:off x="822960" y="822960"/>
            <a:ext cx="9144000" cy="365760"/>
          </a:xfrm>
          <a:prstGeom prst="rect">
            <a:avLst/>
          </a:prstGeom>
          <a:noFill/>
          <a:ln/>
        </p:spPr>
        <p:txBody>
          <a:bodyPr wrap="square" lIns="0" tIns="0" rIns="0" bIns="0"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ONE THING TO TRY NEXT</a:t>
            </a:r>
            <a:endParaRPr lang="en-US" sz="1300" dirty="0"/>
          </a:p>
        </p:txBody>
      </p:sp>
      <p:sp>
        <p:nvSpPr>
          <p:cNvPr id="4" name="Text 2"/>
          <p:cNvSpPr txBox="1"/>
          <p:nvPr/>
        </p:nvSpPr>
        <p:spPr>
          <a:xfrm>
            <a:off x="822960" y="1188720"/>
            <a:ext cx="1005840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Pick one, and use it in your very next discovery session</a:t>
            </a:r>
            <a:endParaRPr lang="en-US" sz="2800" dirty="0"/>
          </a:p>
        </p:txBody>
      </p:sp>
      <p:sp>
        <p:nvSpPr>
          <p:cNvPr id="5" name="Shape 3"/>
          <p:cNvSpPr/>
          <p:nvPr/>
        </p:nvSpPr>
        <p:spPr>
          <a:xfrm>
            <a:off x="822960" y="2286000"/>
            <a:ext cx="5120640" cy="1097280"/>
          </a:xfrm>
          <a:prstGeom prst="roundRect">
            <a:avLst>
              <a:gd name="adj" fmla="val 8333"/>
            </a:avLst>
          </a:prstGeom>
          <a:solidFill>
            <a:srgbClr val="141A47"/>
          </a:solidFill>
          <a:ln/>
        </p:spPr>
        <p:txBody>
          <a:bodyPr/>
          <a:lstStyle/>
          <a:p>
            <a:endParaRPr lang="en-GB"/>
          </a:p>
        </p:txBody>
      </p:sp>
      <p:sp>
        <p:nvSpPr>
          <p:cNvPr id="6" name="Text 4"/>
          <p:cNvSpPr txBox="1"/>
          <p:nvPr/>
        </p:nvSpPr>
        <p:spPr>
          <a:xfrm>
            <a:off x="1097280" y="2286000"/>
            <a:ext cx="4572000" cy="1097280"/>
          </a:xfrm>
          <a:prstGeom prst="rect">
            <a:avLst/>
          </a:prstGeom>
          <a:noFill/>
          <a:ln/>
        </p:spPr>
        <p:txBody>
          <a:bodyPr wrap="square" lIns="0" tIns="0" rIns="0" bIns="0"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The two-pass exceptions technique</a:t>
            </a:r>
            <a:endParaRPr lang="en-US" sz="1500" dirty="0"/>
          </a:p>
        </p:txBody>
      </p:sp>
      <p:sp>
        <p:nvSpPr>
          <p:cNvPr id="7" name="Shape 5"/>
          <p:cNvSpPr/>
          <p:nvPr/>
        </p:nvSpPr>
        <p:spPr>
          <a:xfrm>
            <a:off x="6309360" y="2286000"/>
            <a:ext cx="5120640" cy="1097280"/>
          </a:xfrm>
          <a:prstGeom prst="roundRect">
            <a:avLst>
              <a:gd name="adj" fmla="val 8333"/>
            </a:avLst>
          </a:prstGeom>
          <a:solidFill>
            <a:srgbClr val="141A47"/>
          </a:solidFill>
          <a:ln/>
        </p:spPr>
        <p:txBody>
          <a:bodyPr/>
          <a:lstStyle/>
          <a:p>
            <a:endParaRPr lang="en-GB"/>
          </a:p>
        </p:txBody>
      </p:sp>
      <p:sp>
        <p:nvSpPr>
          <p:cNvPr id="8" name="Text 6"/>
          <p:cNvSpPr txBox="1"/>
          <p:nvPr/>
        </p:nvSpPr>
        <p:spPr>
          <a:xfrm>
            <a:off x="6583680" y="2286000"/>
            <a:ext cx="4572000" cy="1097280"/>
          </a:xfrm>
          <a:prstGeom prst="rect">
            <a:avLst/>
          </a:prstGeom>
          <a:noFill/>
          <a:ln/>
        </p:spPr>
        <p:txBody>
          <a:bodyPr wrap="square" lIns="0" tIns="0" rIns="0" bIns="0"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The ten-minute RACI</a:t>
            </a:r>
            <a:endParaRPr lang="en-US" sz="1500" dirty="0"/>
          </a:p>
        </p:txBody>
      </p:sp>
      <p:sp>
        <p:nvSpPr>
          <p:cNvPr id="9" name="Shape 7"/>
          <p:cNvSpPr/>
          <p:nvPr/>
        </p:nvSpPr>
        <p:spPr>
          <a:xfrm>
            <a:off x="822960" y="3657600"/>
            <a:ext cx="5120640" cy="1097280"/>
          </a:xfrm>
          <a:prstGeom prst="roundRect">
            <a:avLst>
              <a:gd name="adj" fmla="val 8333"/>
            </a:avLst>
          </a:prstGeom>
          <a:solidFill>
            <a:srgbClr val="141A47"/>
          </a:solidFill>
          <a:ln/>
        </p:spPr>
        <p:txBody>
          <a:bodyPr/>
          <a:lstStyle/>
          <a:p>
            <a:endParaRPr lang="en-GB"/>
          </a:p>
        </p:txBody>
      </p:sp>
      <p:sp>
        <p:nvSpPr>
          <p:cNvPr id="10" name="Text 8"/>
          <p:cNvSpPr txBox="1"/>
          <p:nvPr/>
        </p:nvSpPr>
        <p:spPr>
          <a:xfrm>
            <a:off x="1097280" y="3657600"/>
            <a:ext cx="4572000" cy="1097280"/>
          </a:xfrm>
          <a:prstGeom prst="rect">
            <a:avLst/>
          </a:prstGeom>
          <a:noFill/>
          <a:ln/>
        </p:spPr>
        <p:txBody>
          <a:bodyPr wrap="square" lIns="0" tIns="0" rIns="0" bIns="0"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The banned-words opener</a:t>
            </a:r>
            <a:endParaRPr lang="en-US" sz="1500" dirty="0"/>
          </a:p>
        </p:txBody>
      </p:sp>
      <p:sp>
        <p:nvSpPr>
          <p:cNvPr id="11" name="Shape 9"/>
          <p:cNvSpPr/>
          <p:nvPr/>
        </p:nvSpPr>
        <p:spPr>
          <a:xfrm>
            <a:off x="6309360" y="3657600"/>
            <a:ext cx="5120640" cy="1097280"/>
          </a:xfrm>
          <a:prstGeom prst="roundRect">
            <a:avLst>
              <a:gd name="adj" fmla="val 8333"/>
            </a:avLst>
          </a:prstGeom>
          <a:solidFill>
            <a:srgbClr val="141A47"/>
          </a:solidFill>
          <a:ln/>
        </p:spPr>
        <p:txBody>
          <a:bodyPr/>
          <a:lstStyle/>
          <a:p>
            <a:endParaRPr lang="en-GB"/>
          </a:p>
        </p:txBody>
      </p:sp>
      <p:sp>
        <p:nvSpPr>
          <p:cNvPr id="12" name="Text 10"/>
          <p:cNvSpPr txBox="1"/>
          <p:nvPr/>
        </p:nvSpPr>
        <p:spPr>
          <a:xfrm>
            <a:off x="6583680" y="3657600"/>
            <a:ext cx="4572000" cy="1097280"/>
          </a:xfrm>
          <a:prstGeom prst="rect">
            <a:avLst/>
          </a:prstGeom>
          <a:noFill/>
          <a:ln/>
        </p:spPr>
        <p:txBody>
          <a:bodyPr wrap="square" lIns="0" tIns="0" rIns="0" bIns="0"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Prioritisation as a group exercise</a:t>
            </a:r>
            <a:endParaRPr lang="en-US" sz="1500" dirty="0"/>
          </a:p>
        </p:txBody>
      </p:sp>
      <p:sp>
        <p:nvSpPr>
          <p:cNvPr id="13" name="Text 11"/>
          <p:cNvSpPr txBox="1"/>
          <p:nvPr/>
        </p:nvSpPr>
        <p:spPr>
          <a:xfrm>
            <a:off x="822960" y="6035040"/>
            <a:ext cx="10424160" cy="54864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This session exists because this exact conversation happened right here in our own server. Thanks for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3823</Words>
  <Application>Microsoft Office PowerPoint</Application>
  <PresentationFormat>Widescreen</PresentationFormat>
  <Paragraphs>252</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Will Johnson</cp:lastModifiedBy>
  <cp:revision>2</cp:revision>
  <dcterms:created xsi:type="dcterms:W3CDTF">2026-08-28T10:41:17Z</dcterms:created>
  <dcterms:modified xsi:type="dcterms:W3CDTF">2026-08-28T13:04:17Z</dcterms:modified>
</cp:coreProperties>
</file>